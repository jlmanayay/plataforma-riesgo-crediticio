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6078" autoAdjust="0"/>
  </p:normalViewPr>
  <p:slideViewPr>
    <p:cSldViewPr snapToGrid="0" snapToObjects="1">
      <p:cViewPr varScale="1">
        <p:scale>
          <a:sx n="46" d="100"/>
          <a:sy n="46" d="100"/>
        </p:scale>
        <p:origin x="2069"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062011-4E22-4923-8293-ECA292F9A465}" type="datetimeFigureOut">
              <a:rPr lang="es-PE" smtClean="0"/>
              <a:t>14/09/2026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AEA5BE-EAB5-4DF4-9980-0E933D8C961B}" type="slidenum">
              <a:rPr lang="es-PE" smtClean="0"/>
              <a:t>‹Nº›</a:t>
            </a:fld>
            <a:endParaRPr lang="es-PE"/>
          </a:p>
        </p:txBody>
      </p:sp>
    </p:spTree>
    <p:extLst>
      <p:ext uri="{BB962C8B-B14F-4D97-AF65-F5344CB8AC3E}">
        <p14:creationId xmlns:p14="http://schemas.microsoft.com/office/powerpoint/2010/main" val="2375705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PE" dirty="0"/>
              <a:t>Buen día doy inicio a la presentación del primer avance de mi proyecto, el cual se enfoca en resolver problemas y retrasos mediante prácticas DevOps y metodologías ágiles. La propuesta es la</a:t>
            </a:r>
            <a:r>
              <a:rPr lang="es-PE" b="1" dirty="0"/>
              <a:t> Implementación de un proceso de gestión de la configuración y versiones para una Plataforma de Evaluación y Riesgo Crediticio</a:t>
            </a:r>
            <a:r>
              <a:rPr lang="es-PE" dirty="0"/>
              <a:t>.</a:t>
            </a:r>
          </a:p>
        </p:txBody>
      </p:sp>
      <p:sp>
        <p:nvSpPr>
          <p:cNvPr id="4" name="Marcador de número de diapositiva 3"/>
          <p:cNvSpPr>
            <a:spLocks noGrp="1"/>
          </p:cNvSpPr>
          <p:nvPr>
            <p:ph type="sldNum" sz="quarter" idx="5"/>
          </p:nvPr>
        </p:nvSpPr>
        <p:spPr/>
        <p:txBody>
          <a:bodyPr/>
          <a:lstStyle/>
          <a:p>
            <a:fld id="{A1AEA5BE-EAB5-4DF4-9980-0E933D8C961B}" type="slidenum">
              <a:rPr lang="es-PE" smtClean="0"/>
              <a:t>1</a:t>
            </a:fld>
            <a:endParaRPr lang="es-PE"/>
          </a:p>
        </p:txBody>
      </p:sp>
    </p:spTree>
    <p:extLst>
      <p:ext uri="{BB962C8B-B14F-4D97-AF65-F5344CB8AC3E}">
        <p14:creationId xmlns:p14="http://schemas.microsoft.com/office/powerpoint/2010/main" val="23433597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err="1"/>
              <a:t>Emepzamos</a:t>
            </a:r>
            <a:r>
              <a:rPr lang="es-PE" dirty="0"/>
              <a:t> con el contexto y la problemática que para comprender mejor la importancia de la propuesta, primero debemos mirar cómo funciona y opera el sector financiero tradicional. Los sistemas de evaluación de riesgo crediticio son grandes y complejos, pero sufren de una falla arquitectónica grave: </a:t>
            </a:r>
            <a:r>
              <a:rPr lang="es-PE" b="1" dirty="0"/>
              <a:t>los programas fuentes se vinculan directamente al servidor físico</a:t>
            </a:r>
            <a:r>
              <a:rPr lang="es-PE" dirty="0"/>
              <a:t> donde están instalados, ya sea en Desarrollo, </a:t>
            </a:r>
            <a:r>
              <a:rPr lang="es-PE" sz="1200" b="1" kern="1200" dirty="0">
                <a:solidFill>
                  <a:schemeClr val="tx1"/>
                </a:solidFill>
                <a:effectLst/>
                <a:latin typeface="+mn-lt"/>
                <a:ea typeface="+mn-ea"/>
                <a:cs typeface="+mn-cs"/>
              </a:rPr>
              <a:t>Aseguramiento de Calidad</a:t>
            </a:r>
            <a:r>
              <a:rPr lang="es-PE" dirty="0"/>
              <a:t> o Producción.</a:t>
            </a:r>
          </a:p>
        </p:txBody>
      </p:sp>
      <p:sp>
        <p:nvSpPr>
          <p:cNvPr id="4" name="Marcador de número de diapositiva 3"/>
          <p:cNvSpPr>
            <a:spLocks noGrp="1"/>
          </p:cNvSpPr>
          <p:nvPr>
            <p:ph type="sldNum" sz="quarter" idx="5"/>
          </p:nvPr>
        </p:nvSpPr>
        <p:spPr/>
        <p:txBody>
          <a:bodyPr/>
          <a:lstStyle/>
          <a:p>
            <a:fld id="{A1AEA5BE-EAB5-4DF4-9980-0E933D8C961B}" type="slidenum">
              <a:rPr lang="es-PE" smtClean="0"/>
              <a:t>2</a:t>
            </a:fld>
            <a:endParaRPr lang="es-PE"/>
          </a:p>
        </p:txBody>
      </p:sp>
    </p:spTree>
    <p:extLst>
      <p:ext uri="{BB962C8B-B14F-4D97-AF65-F5344CB8AC3E}">
        <p14:creationId xmlns:p14="http://schemas.microsoft.com/office/powerpoint/2010/main" val="16650077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PE" dirty="0"/>
              <a:t>Bueno ahora pasamos a los problemas específicos donde podemos ver que la dependencia de los servidores físicos provoca que no existan registros formales de los cambios ni líneas base de los componentes instalados. Cuando se requiere realizar un pase a producción, los administradores deben </a:t>
            </a:r>
            <a:r>
              <a:rPr lang="es-PE" b="1" dirty="0"/>
              <a:t>copiar manualmente los archivos</a:t>
            </a:r>
            <a:r>
              <a:rPr lang="es-PE" dirty="0"/>
              <a:t> dependiendo del tipo de actualización. Esto genera un alto riesgo operativo, ya que deja la posibilidad que existan los errores humanos por </a:t>
            </a:r>
            <a:r>
              <a:rPr lang="es-PE" dirty="0" err="1"/>
              <a:t>sobrescritura</a:t>
            </a:r>
            <a:r>
              <a:rPr lang="es-PE" dirty="0"/>
              <a:t> de componentes y, lo más crítico es que imposibilita que varios equipos desarrollen actualizaciones en paralelo de forma segura.</a:t>
            </a:r>
          </a:p>
        </p:txBody>
      </p:sp>
      <p:sp>
        <p:nvSpPr>
          <p:cNvPr id="4" name="Marcador de número de diapositiva 3"/>
          <p:cNvSpPr>
            <a:spLocks noGrp="1"/>
          </p:cNvSpPr>
          <p:nvPr>
            <p:ph type="sldNum" sz="quarter" idx="5"/>
          </p:nvPr>
        </p:nvSpPr>
        <p:spPr/>
        <p:txBody>
          <a:bodyPr/>
          <a:lstStyle/>
          <a:p>
            <a:fld id="{A1AEA5BE-EAB5-4DF4-9980-0E933D8C961B}" type="slidenum">
              <a:rPr lang="es-PE" smtClean="0"/>
              <a:t>3</a:t>
            </a:fld>
            <a:endParaRPr lang="es-PE"/>
          </a:p>
        </p:txBody>
      </p:sp>
    </p:spTree>
    <p:extLst>
      <p:ext uri="{BB962C8B-B14F-4D97-AF65-F5344CB8AC3E}">
        <p14:creationId xmlns:p14="http://schemas.microsoft.com/office/powerpoint/2010/main" val="38050405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PE" dirty="0"/>
              <a:t>Ahora la visión estratégica para poder solucionar esto se resume en el </a:t>
            </a:r>
            <a:r>
              <a:rPr lang="es-PE" b="1" dirty="0"/>
              <a:t>Objetivo General que es el</a:t>
            </a:r>
            <a:r>
              <a:rPr lang="es-PE" dirty="0"/>
              <a:t> Diseñar e implementar un proceso de gestión de la configuración que permita el seguimiento detallado de cada componente de software de la plataforma. La meta principal es </a:t>
            </a:r>
            <a:r>
              <a:rPr lang="es-PE" b="1" dirty="0"/>
              <a:t>desacoplar la gestión de versiones de los servidores físicos y automatizar sus despliegues</a:t>
            </a:r>
            <a:r>
              <a:rPr lang="es-PE" dirty="0"/>
              <a:t>.</a:t>
            </a:r>
          </a:p>
        </p:txBody>
      </p:sp>
      <p:sp>
        <p:nvSpPr>
          <p:cNvPr id="4" name="Marcador de número de diapositiva 3"/>
          <p:cNvSpPr>
            <a:spLocks noGrp="1"/>
          </p:cNvSpPr>
          <p:nvPr>
            <p:ph type="sldNum" sz="quarter" idx="5"/>
          </p:nvPr>
        </p:nvSpPr>
        <p:spPr/>
        <p:txBody>
          <a:bodyPr/>
          <a:lstStyle/>
          <a:p>
            <a:fld id="{A1AEA5BE-EAB5-4DF4-9980-0E933D8C961B}" type="slidenum">
              <a:rPr lang="es-PE" smtClean="0"/>
              <a:t>4</a:t>
            </a:fld>
            <a:endParaRPr lang="es-PE"/>
          </a:p>
        </p:txBody>
      </p:sp>
    </p:spTree>
    <p:extLst>
      <p:ext uri="{BB962C8B-B14F-4D97-AF65-F5344CB8AC3E}">
        <p14:creationId xmlns:p14="http://schemas.microsoft.com/office/powerpoint/2010/main" val="40104822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PE" sz="1200" b="1" kern="1200" dirty="0">
                <a:solidFill>
                  <a:schemeClr val="tx1"/>
                </a:solidFill>
                <a:effectLst/>
                <a:latin typeface="+mn-lt"/>
                <a:ea typeface="+mn-ea"/>
                <a:cs typeface="+mn-cs"/>
              </a:rPr>
              <a:t>Tenemos 3 Objetivos Específicos</a:t>
            </a:r>
            <a:r>
              <a:rPr lang="es-PE" sz="1200" kern="1200" dirty="0">
                <a:solidFill>
                  <a:schemeClr val="tx1"/>
                </a:solidFill>
                <a:effectLst/>
                <a:latin typeface="+mn-lt"/>
                <a:ea typeface="+mn-ea"/>
                <a:cs typeface="+mn-cs"/>
              </a:rPr>
              <a:t>:</a:t>
            </a:r>
          </a:p>
          <a:p>
            <a:pPr lvl="0"/>
            <a:r>
              <a:rPr lang="es-PE" sz="1200" kern="1200" dirty="0">
                <a:solidFill>
                  <a:schemeClr val="tx1"/>
                </a:solidFill>
                <a:effectLst/>
                <a:latin typeface="+mn-lt"/>
                <a:ea typeface="+mn-ea"/>
                <a:cs typeface="+mn-cs"/>
              </a:rPr>
              <a:t>El primer objetivo es Estandarizar un ciclo de vida para el software que sistematice cómo registrar, nombrar y </a:t>
            </a:r>
            <a:r>
              <a:rPr lang="es-PE" sz="1200" kern="1200" dirty="0" err="1">
                <a:solidFill>
                  <a:schemeClr val="tx1"/>
                </a:solidFill>
                <a:effectLst/>
                <a:latin typeface="+mn-lt"/>
                <a:ea typeface="+mn-ea"/>
                <a:cs typeface="+mn-cs"/>
              </a:rPr>
              <a:t>empaquer</a:t>
            </a:r>
            <a:r>
              <a:rPr lang="es-PE" sz="1200" kern="1200" dirty="0">
                <a:solidFill>
                  <a:schemeClr val="tx1"/>
                </a:solidFill>
                <a:effectLst/>
                <a:latin typeface="+mn-lt"/>
                <a:ea typeface="+mn-ea"/>
                <a:cs typeface="+mn-cs"/>
              </a:rPr>
              <a:t> los cambios donde podemos usar nomenclaturas para nombrar cada </a:t>
            </a:r>
            <a:r>
              <a:rPr lang="es-PE" sz="1200" kern="1200" dirty="0" err="1">
                <a:solidFill>
                  <a:schemeClr val="tx1"/>
                </a:solidFill>
                <a:effectLst/>
                <a:latin typeface="+mn-lt"/>
                <a:ea typeface="+mn-ea"/>
                <a:cs typeface="+mn-cs"/>
              </a:rPr>
              <a:t>version</a:t>
            </a:r>
            <a:r>
              <a:rPr lang="es-PE" sz="1200" kern="1200" dirty="0">
                <a:solidFill>
                  <a:schemeClr val="tx1"/>
                </a:solidFill>
                <a:effectLst/>
                <a:latin typeface="+mn-lt"/>
                <a:ea typeface="+mn-ea"/>
                <a:cs typeface="+mn-cs"/>
              </a:rPr>
              <a:t> </a:t>
            </a:r>
          </a:p>
          <a:p>
            <a:pPr lvl="0"/>
            <a:r>
              <a:rPr lang="es-PE" sz="1200" kern="1200" dirty="0">
                <a:solidFill>
                  <a:schemeClr val="tx1"/>
                </a:solidFill>
                <a:effectLst/>
                <a:latin typeface="+mn-lt"/>
                <a:ea typeface="+mn-ea"/>
                <a:cs typeface="+mn-cs"/>
              </a:rPr>
              <a:t>El segundo objetivo Generar una </a:t>
            </a:r>
            <a:r>
              <a:rPr lang="es-PE" sz="1200" b="1" kern="1200" dirty="0">
                <a:solidFill>
                  <a:schemeClr val="tx1"/>
                </a:solidFill>
                <a:effectLst/>
                <a:latin typeface="+mn-lt"/>
                <a:ea typeface="+mn-ea"/>
                <a:cs typeface="+mn-cs"/>
              </a:rPr>
              <a:t>biblioteca de paquetes centralizada</a:t>
            </a:r>
            <a:r>
              <a:rPr lang="es-PE" sz="1200" kern="1200" dirty="0">
                <a:solidFill>
                  <a:schemeClr val="tx1"/>
                </a:solidFill>
                <a:effectLst/>
                <a:latin typeface="+mn-lt"/>
                <a:ea typeface="+mn-ea"/>
                <a:cs typeface="+mn-cs"/>
              </a:rPr>
              <a:t> con versiones ejecutables, logrando así la verdadera independencia del hardware. </a:t>
            </a:r>
          </a:p>
          <a:p>
            <a:pPr marL="0" marR="0" lvl="0" indent="0" algn="l" defTabSz="914400" rtl="0" eaLnBrk="1" fontAlgn="auto" latinLnBrk="0" hangingPunct="1">
              <a:lnSpc>
                <a:spcPct val="100000"/>
              </a:lnSpc>
              <a:spcBef>
                <a:spcPts val="0"/>
              </a:spcBef>
              <a:spcAft>
                <a:spcPts val="0"/>
              </a:spcAft>
              <a:buClrTx/>
              <a:buSzTx/>
              <a:buFontTx/>
              <a:buNone/>
              <a:tabLst/>
              <a:defRPr/>
            </a:pPr>
            <a:r>
              <a:rPr lang="es-PE" sz="1200" kern="1200" dirty="0">
                <a:solidFill>
                  <a:schemeClr val="tx1"/>
                </a:solidFill>
                <a:effectLst/>
                <a:latin typeface="+mn-lt"/>
                <a:ea typeface="+mn-ea"/>
                <a:cs typeface="+mn-cs"/>
              </a:rPr>
              <a:t>Y el tercer objetivo Sustituir la copia manual de archivos mediante la </a:t>
            </a:r>
            <a:r>
              <a:rPr lang="es-PE" sz="1200" b="1" kern="1200" dirty="0">
                <a:solidFill>
                  <a:schemeClr val="tx1"/>
                </a:solidFill>
                <a:effectLst/>
                <a:latin typeface="+mn-lt"/>
                <a:ea typeface="+mn-ea"/>
                <a:cs typeface="+mn-cs"/>
              </a:rPr>
              <a:t>automatización total de los despliegues</a:t>
            </a:r>
            <a:r>
              <a:rPr lang="es-PE" sz="1200" kern="1200" dirty="0">
                <a:solidFill>
                  <a:schemeClr val="tx1"/>
                </a:solidFill>
                <a:effectLst/>
                <a:latin typeface="+mn-lt"/>
                <a:ea typeface="+mn-ea"/>
                <a:cs typeface="+mn-cs"/>
              </a:rPr>
              <a:t> en servidores productivos, de </a:t>
            </a:r>
            <a:r>
              <a:rPr lang="es-PE" sz="1200" b="1" kern="1200" dirty="0">
                <a:solidFill>
                  <a:schemeClr val="tx1"/>
                </a:solidFill>
                <a:effectLst/>
                <a:latin typeface="+mn-lt"/>
                <a:ea typeface="+mn-ea"/>
                <a:cs typeface="+mn-cs"/>
              </a:rPr>
              <a:t>Aseguramiento de Calidad</a:t>
            </a:r>
            <a:r>
              <a:rPr lang="es-PE" sz="1200" kern="1200" dirty="0">
                <a:solidFill>
                  <a:schemeClr val="tx1"/>
                </a:solidFill>
                <a:effectLst/>
                <a:latin typeface="+mn-lt"/>
                <a:ea typeface="+mn-ea"/>
                <a:cs typeface="+mn-cs"/>
              </a:rPr>
              <a:t> y desarrollo.</a:t>
            </a:r>
          </a:p>
          <a:p>
            <a:endParaRPr lang="es-PE" dirty="0"/>
          </a:p>
        </p:txBody>
      </p:sp>
      <p:sp>
        <p:nvSpPr>
          <p:cNvPr id="4" name="Marcador de número de diapositiva 3"/>
          <p:cNvSpPr>
            <a:spLocks noGrp="1"/>
          </p:cNvSpPr>
          <p:nvPr>
            <p:ph type="sldNum" sz="quarter" idx="5"/>
          </p:nvPr>
        </p:nvSpPr>
        <p:spPr/>
        <p:txBody>
          <a:bodyPr/>
          <a:lstStyle/>
          <a:p>
            <a:fld id="{A1AEA5BE-EAB5-4DF4-9980-0E933D8C961B}" type="slidenum">
              <a:rPr lang="es-PE" smtClean="0"/>
              <a:t>5</a:t>
            </a:fld>
            <a:endParaRPr lang="es-PE"/>
          </a:p>
        </p:txBody>
      </p:sp>
    </p:spTree>
    <p:extLst>
      <p:ext uri="{BB962C8B-B14F-4D97-AF65-F5344CB8AC3E}">
        <p14:creationId xmlns:p14="http://schemas.microsoft.com/office/powerpoint/2010/main" val="20204451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PE" dirty="0"/>
              <a:t>Dentro de los </a:t>
            </a:r>
            <a:r>
              <a:rPr lang="es-PE" b="1" dirty="0"/>
              <a:t>Alcances</a:t>
            </a:r>
            <a:r>
              <a:rPr lang="es-PE" dirty="0"/>
              <a:t> del proyecto tenemos la implementación y el establecer un repositorio distribuido que soporte la concurrencia. </a:t>
            </a:r>
            <a:r>
              <a:rPr lang="es-PE" dirty="0" err="1"/>
              <a:t>Tambien</a:t>
            </a:r>
            <a:r>
              <a:rPr lang="es-PE" dirty="0"/>
              <a:t> se Diseñara un flujo de cuatro etapas: Registro de cambios, Nombrado de iteraciones, Empaquetamiento y por ultimo el Despliegue. Además, se busca garantizar que los entornos automatizados permitan realizar una recuperación rápida para mitigar cualquier falla productiva</a:t>
            </a:r>
            <a:br>
              <a:rPr lang="es-PE" dirty="0"/>
            </a:br>
            <a:br>
              <a:rPr lang="es-PE" dirty="0"/>
            </a:br>
            <a:r>
              <a:rPr lang="es-PE" dirty="0"/>
              <a:t>en las </a:t>
            </a:r>
            <a:r>
              <a:rPr lang="es-PE" b="1" dirty="0"/>
              <a:t>Limitaciones</a:t>
            </a:r>
            <a:r>
              <a:rPr lang="es-PE" dirty="0"/>
              <a:t>. Este proyecto es estrictamente de arquitectura de configuración y despliegue (DevOps). Por lo tanto, no se abarca la reestructuración de la lógica algorítmica ni se alterara el modelo matemático de riesgo crediticio. Adicionalmente, todos los despliegues iniciales se realizarán sobre ambientes simulados, protegiendo así las bases de datos</a:t>
            </a:r>
          </a:p>
        </p:txBody>
      </p:sp>
      <p:sp>
        <p:nvSpPr>
          <p:cNvPr id="4" name="Marcador de número de diapositiva 3"/>
          <p:cNvSpPr>
            <a:spLocks noGrp="1"/>
          </p:cNvSpPr>
          <p:nvPr>
            <p:ph type="sldNum" sz="quarter" idx="5"/>
          </p:nvPr>
        </p:nvSpPr>
        <p:spPr/>
        <p:txBody>
          <a:bodyPr/>
          <a:lstStyle/>
          <a:p>
            <a:fld id="{A1AEA5BE-EAB5-4DF4-9980-0E933D8C961B}" type="slidenum">
              <a:rPr lang="es-PE" smtClean="0"/>
              <a:t>6</a:t>
            </a:fld>
            <a:endParaRPr lang="es-PE"/>
          </a:p>
        </p:txBody>
      </p:sp>
    </p:spTree>
    <p:extLst>
      <p:ext uri="{BB962C8B-B14F-4D97-AF65-F5344CB8AC3E}">
        <p14:creationId xmlns:p14="http://schemas.microsoft.com/office/powerpoint/2010/main" val="41145012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PE" sz="1200" kern="1200" dirty="0">
                <a:solidFill>
                  <a:schemeClr val="tx1"/>
                </a:solidFill>
                <a:effectLst/>
                <a:latin typeface="+mn-lt"/>
                <a:ea typeface="+mn-ea"/>
                <a:cs typeface="+mn-cs"/>
              </a:rPr>
              <a:t>Antes de hablar del marco teórico agregar que la propuesta está respaldada por investigaciones donde Destacamos la tesis de Rodríguez Pino, quien abordó un escenario idéntico en el sector bancario, demostrando que independizar los ambientes reduce el </a:t>
            </a:r>
            <a:r>
              <a:rPr lang="es-PE" sz="1200" kern="1200" dirty="0" err="1">
                <a:solidFill>
                  <a:schemeClr val="tx1"/>
                </a:solidFill>
                <a:effectLst/>
                <a:latin typeface="+mn-lt"/>
                <a:ea typeface="+mn-ea"/>
                <a:cs typeface="+mn-cs"/>
              </a:rPr>
              <a:t>sobretrabajo</a:t>
            </a:r>
            <a:r>
              <a:rPr lang="es-PE" sz="1200" kern="1200" dirty="0">
                <a:solidFill>
                  <a:schemeClr val="tx1"/>
                </a:solidFill>
                <a:effectLst/>
                <a:latin typeface="+mn-lt"/>
                <a:ea typeface="+mn-ea"/>
                <a:cs typeface="+mn-cs"/>
              </a:rPr>
              <a:t> y los errores operativos. </a:t>
            </a:r>
          </a:p>
          <a:p>
            <a:r>
              <a:rPr lang="es-PE" sz="1200" kern="1200" dirty="0">
                <a:solidFill>
                  <a:schemeClr val="tx1"/>
                </a:solidFill>
                <a:effectLst/>
                <a:latin typeface="+mn-lt"/>
                <a:ea typeface="+mn-ea"/>
                <a:cs typeface="+mn-cs"/>
              </a:rPr>
              <a:t>Bueno ahora si a nivel tecnológico, nos basamos en dos fundamentos:</a:t>
            </a:r>
          </a:p>
          <a:p>
            <a:pPr lvl="0"/>
            <a:r>
              <a:rPr lang="es-PE" sz="1200" b="1" kern="1200" dirty="0">
                <a:solidFill>
                  <a:schemeClr val="tx1"/>
                </a:solidFill>
                <a:effectLst/>
                <a:latin typeface="+mn-lt"/>
                <a:ea typeface="+mn-ea"/>
                <a:cs typeface="+mn-cs"/>
              </a:rPr>
              <a:t>Git:</a:t>
            </a:r>
            <a:r>
              <a:rPr lang="es-PE" sz="1200" kern="1200" dirty="0">
                <a:solidFill>
                  <a:schemeClr val="tx1"/>
                </a:solidFill>
                <a:effectLst/>
                <a:latin typeface="+mn-lt"/>
                <a:ea typeface="+mn-ea"/>
                <a:cs typeface="+mn-cs"/>
              </a:rPr>
              <a:t> Como sistema distribuido que maneja estados locales (</a:t>
            </a:r>
            <a:r>
              <a:rPr lang="es-PE" sz="1200" i="1" kern="1200" dirty="0" err="1">
                <a:solidFill>
                  <a:schemeClr val="tx1"/>
                </a:solidFill>
                <a:effectLst/>
                <a:latin typeface="+mn-lt"/>
                <a:ea typeface="+mn-ea"/>
                <a:cs typeface="+mn-cs"/>
              </a:rPr>
              <a:t>committed</a:t>
            </a:r>
            <a:r>
              <a:rPr lang="es-PE" sz="1200" i="1" kern="1200" dirty="0">
                <a:solidFill>
                  <a:schemeClr val="tx1"/>
                </a:solidFill>
                <a:effectLst/>
                <a:latin typeface="+mn-lt"/>
                <a:ea typeface="+mn-ea"/>
                <a:cs typeface="+mn-cs"/>
              </a:rPr>
              <a:t>, </a:t>
            </a:r>
            <a:r>
              <a:rPr lang="es-PE" sz="1200" i="1" kern="1200" dirty="0" err="1">
                <a:solidFill>
                  <a:schemeClr val="tx1"/>
                </a:solidFill>
                <a:effectLst/>
                <a:latin typeface="+mn-lt"/>
                <a:ea typeface="+mn-ea"/>
                <a:cs typeface="+mn-cs"/>
              </a:rPr>
              <a:t>modified</a:t>
            </a:r>
            <a:r>
              <a:rPr lang="es-PE" sz="1200" i="1" kern="1200" dirty="0">
                <a:solidFill>
                  <a:schemeClr val="tx1"/>
                </a:solidFill>
                <a:effectLst/>
                <a:latin typeface="+mn-lt"/>
                <a:ea typeface="+mn-ea"/>
                <a:cs typeface="+mn-cs"/>
              </a:rPr>
              <a:t>, </a:t>
            </a:r>
            <a:r>
              <a:rPr lang="es-PE" sz="1200" i="1" kern="1200" dirty="0" err="1">
                <a:solidFill>
                  <a:schemeClr val="tx1"/>
                </a:solidFill>
                <a:effectLst/>
                <a:latin typeface="+mn-lt"/>
                <a:ea typeface="+mn-ea"/>
                <a:cs typeface="+mn-cs"/>
              </a:rPr>
              <a:t>staged</a:t>
            </a:r>
            <a:r>
              <a:rPr lang="es-PE" sz="1200" kern="1200" dirty="0">
                <a:solidFill>
                  <a:schemeClr val="tx1"/>
                </a:solidFill>
                <a:effectLst/>
                <a:latin typeface="+mn-lt"/>
                <a:ea typeface="+mn-ea"/>
                <a:cs typeface="+mn-cs"/>
              </a:rPr>
              <a:t>) permitiendo la colaboración autónoma. </a:t>
            </a:r>
          </a:p>
          <a:p>
            <a:pPr lvl="0"/>
            <a:r>
              <a:rPr lang="es-PE" sz="1200" b="1" kern="1200" dirty="0">
                <a:solidFill>
                  <a:schemeClr val="tx1"/>
                </a:solidFill>
                <a:effectLst/>
                <a:latin typeface="+mn-lt"/>
                <a:ea typeface="+mn-ea"/>
                <a:cs typeface="+mn-cs"/>
              </a:rPr>
              <a:t>Automatización de Despliegue (CD):</a:t>
            </a:r>
            <a:r>
              <a:rPr lang="es-PE" sz="1200" kern="1200" dirty="0">
                <a:solidFill>
                  <a:schemeClr val="tx1"/>
                </a:solidFill>
                <a:effectLst/>
                <a:latin typeface="+mn-lt"/>
                <a:ea typeface="+mn-ea"/>
                <a:cs typeface="+mn-cs"/>
              </a:rPr>
              <a:t> Como mecanismo para extraer paquetes de la biblioteca y publicarlos de forma predecible, mitigando las inconsistencias</a:t>
            </a:r>
          </a:p>
          <a:p>
            <a:endParaRPr lang="es-PE" dirty="0"/>
          </a:p>
        </p:txBody>
      </p:sp>
      <p:sp>
        <p:nvSpPr>
          <p:cNvPr id="4" name="Marcador de número de diapositiva 3"/>
          <p:cNvSpPr>
            <a:spLocks noGrp="1"/>
          </p:cNvSpPr>
          <p:nvPr>
            <p:ph type="sldNum" sz="quarter" idx="5"/>
          </p:nvPr>
        </p:nvSpPr>
        <p:spPr/>
        <p:txBody>
          <a:bodyPr/>
          <a:lstStyle/>
          <a:p>
            <a:fld id="{A1AEA5BE-EAB5-4DF4-9980-0E933D8C961B}" type="slidenum">
              <a:rPr lang="es-PE" smtClean="0"/>
              <a:t>7</a:t>
            </a:fld>
            <a:endParaRPr lang="es-PE"/>
          </a:p>
        </p:txBody>
      </p:sp>
    </p:spTree>
    <p:extLst>
      <p:ext uri="{BB962C8B-B14F-4D97-AF65-F5344CB8AC3E}">
        <p14:creationId xmlns:p14="http://schemas.microsoft.com/office/powerpoint/2010/main" val="22493726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PE" dirty="0"/>
              <a:t>Para ir finalizar, demostramos que la teoría ya está en práctica. En los anexos evidenciamos la </a:t>
            </a:r>
            <a:r>
              <a:rPr lang="es-PE" b="1" dirty="0"/>
              <a:t>inicialización de nuestro repositorio local y el primer envío al servidor remoto</a:t>
            </a:r>
            <a:r>
              <a:rPr lang="es-PE" dirty="0"/>
              <a:t>. El código base y la estructura inicial ya se encuentran sincronizados y alojados de forma centralizada en GitHub, listos para la integración continua que se </a:t>
            </a:r>
            <a:r>
              <a:rPr lang="es-PE" dirty="0" err="1"/>
              <a:t>desarrollarea</a:t>
            </a:r>
            <a:r>
              <a:rPr lang="es-PE" dirty="0"/>
              <a:t> a continuación.</a:t>
            </a:r>
          </a:p>
        </p:txBody>
      </p:sp>
      <p:sp>
        <p:nvSpPr>
          <p:cNvPr id="4" name="Marcador de número de diapositiva 3"/>
          <p:cNvSpPr>
            <a:spLocks noGrp="1"/>
          </p:cNvSpPr>
          <p:nvPr>
            <p:ph type="sldNum" sz="quarter" idx="5"/>
          </p:nvPr>
        </p:nvSpPr>
        <p:spPr/>
        <p:txBody>
          <a:bodyPr/>
          <a:lstStyle/>
          <a:p>
            <a:fld id="{A1AEA5BE-EAB5-4DF4-9980-0E933D8C961B}" type="slidenum">
              <a:rPr lang="es-PE" smtClean="0"/>
              <a:t>8</a:t>
            </a:fld>
            <a:endParaRPr lang="es-PE"/>
          </a:p>
        </p:txBody>
      </p:sp>
    </p:spTree>
    <p:extLst>
      <p:ext uri="{BB962C8B-B14F-4D97-AF65-F5344CB8AC3E}">
        <p14:creationId xmlns:p14="http://schemas.microsoft.com/office/powerpoint/2010/main" val="39088411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PE" dirty="0"/>
              <a:t>Con esto doy por finalizado la presentación del primer avance del proyecto. </a:t>
            </a:r>
            <a:r>
              <a:rPr lang="es-PE"/>
              <a:t>Gracias por su atención</a:t>
            </a:r>
          </a:p>
        </p:txBody>
      </p:sp>
      <p:sp>
        <p:nvSpPr>
          <p:cNvPr id="4" name="Marcador de número de diapositiva 3"/>
          <p:cNvSpPr>
            <a:spLocks noGrp="1"/>
          </p:cNvSpPr>
          <p:nvPr>
            <p:ph type="sldNum" sz="quarter" idx="5"/>
          </p:nvPr>
        </p:nvSpPr>
        <p:spPr/>
        <p:txBody>
          <a:bodyPr/>
          <a:lstStyle/>
          <a:p>
            <a:fld id="{A1AEA5BE-EAB5-4DF4-9980-0E933D8C961B}" type="slidenum">
              <a:rPr lang="es-PE" smtClean="0"/>
              <a:t>9</a:t>
            </a:fld>
            <a:endParaRPr lang="es-PE"/>
          </a:p>
        </p:txBody>
      </p:sp>
    </p:spTree>
    <p:extLst>
      <p:ext uri="{BB962C8B-B14F-4D97-AF65-F5344CB8AC3E}">
        <p14:creationId xmlns:p14="http://schemas.microsoft.com/office/powerpoint/2010/main" val="33422253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7.xml"/><Relationship Id="rId7" Type="http://schemas.openxmlformats.org/officeDocument/2006/relationships/image" Target="../media/image4.png"/><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3.png"/><Relationship Id="rId5" Type="http://schemas.openxmlformats.org/officeDocument/2006/relationships/image" Target="../media/image1.png"/><Relationship Id="rId4" Type="http://schemas.openxmlformats.org/officeDocument/2006/relationships/notesSlide" Target="../notesSlides/notesSlide2.xml"/><Relationship Id="rId9"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7.xml"/><Relationship Id="rId7" Type="http://schemas.openxmlformats.org/officeDocument/2006/relationships/image" Target="../media/image7.png"/><Relationship Id="rId12" Type="http://schemas.openxmlformats.org/officeDocument/2006/relationships/image" Target="../media/image2.png"/><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1.png"/><Relationship Id="rId10" Type="http://schemas.openxmlformats.org/officeDocument/2006/relationships/image" Target="../media/image10.png"/><Relationship Id="rId4" Type="http://schemas.openxmlformats.org/officeDocument/2006/relationships/notesSlide" Target="../notesSlides/notesSlide3.xml"/><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7.xml"/><Relationship Id="rId7" Type="http://schemas.openxmlformats.org/officeDocument/2006/relationships/image" Target="../media/image7.png"/><Relationship Id="rId12" Type="http://schemas.openxmlformats.org/officeDocument/2006/relationships/image" Target="../media/image2.png"/><Relationship Id="rId2" Type="http://schemas.openxmlformats.org/officeDocument/2006/relationships/audio" Target="../media/media5.m4a"/><Relationship Id="rId1" Type="http://schemas.microsoft.com/office/2007/relationships/media" Target="../media/media5.m4a"/><Relationship Id="rId6" Type="http://schemas.openxmlformats.org/officeDocument/2006/relationships/image" Target="../media/image6.png"/><Relationship Id="rId11" Type="http://schemas.openxmlformats.org/officeDocument/2006/relationships/image" Target="../media/image14.png"/><Relationship Id="rId5" Type="http://schemas.openxmlformats.org/officeDocument/2006/relationships/image" Target="../media/image1.png"/><Relationship Id="rId10" Type="http://schemas.openxmlformats.org/officeDocument/2006/relationships/image" Target="../media/image13.png"/><Relationship Id="rId4" Type="http://schemas.openxmlformats.org/officeDocument/2006/relationships/notesSlide" Target="../notesSlides/notesSlide5.xml"/><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7.xml"/><Relationship Id="rId7" Type="http://schemas.openxmlformats.org/officeDocument/2006/relationships/image" Target="../media/image16.png"/><Relationship Id="rId2" Type="http://schemas.openxmlformats.org/officeDocument/2006/relationships/audio" Target="../media/media6.m4a"/><Relationship Id="rId1" Type="http://schemas.microsoft.com/office/2007/relationships/media" Target="../media/media6.m4a"/><Relationship Id="rId6" Type="http://schemas.openxmlformats.org/officeDocument/2006/relationships/image" Target="../media/image15.png"/><Relationship Id="rId5"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2.png"/><Relationship Id="rId2" Type="http://schemas.openxmlformats.org/officeDocument/2006/relationships/audio" Target="../media/media7.m4a"/><Relationship Id="rId1" Type="http://schemas.microsoft.com/office/2007/relationships/media" Target="../media/media7.m4a"/><Relationship Id="rId6" Type="http://schemas.openxmlformats.org/officeDocument/2006/relationships/image" Target="../media/image17.png"/><Relationship Id="rId5" Type="http://schemas.openxmlformats.org/officeDocument/2006/relationships/image" Target="../media/image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slideLayout" Target="../slideLayouts/slideLayout7.xml"/><Relationship Id="rId7" Type="http://schemas.openxmlformats.org/officeDocument/2006/relationships/image" Target="../media/image19.png"/><Relationship Id="rId2" Type="http://schemas.openxmlformats.org/officeDocument/2006/relationships/audio" Target="../media/media8.m4a"/><Relationship Id="rId1" Type="http://schemas.microsoft.com/office/2007/relationships/media" Target="../media/media8.m4a"/><Relationship Id="rId6" Type="http://schemas.openxmlformats.org/officeDocument/2006/relationships/image" Target="../media/image18.png"/><Relationship Id="rId5" Type="http://schemas.openxmlformats.org/officeDocument/2006/relationships/image" Target="../media/image1.png"/><Relationship Id="rId10" Type="http://schemas.openxmlformats.org/officeDocument/2006/relationships/image" Target="../media/image2.png"/><Relationship Id="rId4" Type="http://schemas.openxmlformats.org/officeDocument/2006/relationships/notesSlide" Target="../notesSlides/notesSlide8.xml"/><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9.m4a"/><Relationship Id="rId1" Type="http://schemas.microsoft.com/office/2007/relationships/media" Target="../media/media9.m4a"/><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sp>
        <p:nvSpPr>
          <p:cNvPr id="3" name="Rectangle 2"/>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95437" y="1901279"/>
            <a:ext cx="9001125" cy="1362075"/>
          </a:xfrm>
          <a:prstGeom prst="rect">
            <a:avLst/>
          </a:prstGeom>
          <a:noFill/>
        </p:spPr>
        <p:txBody>
          <a:bodyPr wrap="square" lIns="0" tIns="0" rIns="0" bIns="0" anchor="t">
            <a:spAutoFit/>
          </a:bodyPr>
          <a:lstStyle/>
          <a:p>
            <a:pPr algn="ctr">
              <a:lnSpc>
                <a:spcPts val="5362"/>
              </a:lnSpc>
            </a:pPr>
            <a:r>
              <a:rPr sz="4875" b="1" i="0" u="none">
                <a:solidFill>
                  <a:srgbClr val="FFFFFF"/>
                </a:solidFill>
                <a:latin typeface="Poppins"/>
              </a:rPr>
              <a:t>Plataforma de Evaluación y Riesgo Crediticio</a:t>
            </a:r>
          </a:p>
        </p:txBody>
      </p:sp>
      <p:sp>
        <p:nvSpPr>
          <p:cNvPr id="5" name="TextBox 4"/>
          <p:cNvSpPr txBox="1"/>
          <p:nvPr/>
        </p:nvSpPr>
        <p:spPr>
          <a:xfrm>
            <a:off x="1809750" y="3453854"/>
            <a:ext cx="8572500" cy="365670"/>
          </a:xfrm>
          <a:prstGeom prst="rect">
            <a:avLst/>
          </a:prstGeom>
          <a:noFill/>
        </p:spPr>
        <p:txBody>
          <a:bodyPr wrap="square" lIns="0" tIns="0" rIns="0" bIns="0" anchor="t">
            <a:spAutoFit/>
          </a:bodyPr>
          <a:lstStyle/>
          <a:p>
            <a:pPr algn="ctr">
              <a:lnSpc>
                <a:spcPts val="2879"/>
              </a:lnSpc>
            </a:pPr>
            <a:r>
              <a:rPr sz="1800" b="0" i="0" u="none">
                <a:solidFill>
                  <a:srgbClr val="9CA3AF"/>
                </a:solidFill>
                <a:latin typeface="Lato"/>
              </a:rPr>
              <a:t>Propuesta de Implementación de Gestión de Configuración y Versiones</a:t>
            </a:r>
          </a:p>
        </p:txBody>
      </p:sp>
      <p:sp>
        <p:nvSpPr>
          <p:cNvPr id="6" name="TextBox 5"/>
          <p:cNvSpPr txBox="1"/>
          <p:nvPr/>
        </p:nvSpPr>
        <p:spPr>
          <a:xfrm>
            <a:off x="1809750" y="4200525"/>
            <a:ext cx="8572500" cy="274290"/>
          </a:xfrm>
          <a:prstGeom prst="rect">
            <a:avLst/>
          </a:prstGeom>
          <a:noFill/>
        </p:spPr>
        <p:txBody>
          <a:bodyPr wrap="square" lIns="0" tIns="0" rIns="0" bIns="0" anchor="t">
            <a:spAutoFit/>
          </a:bodyPr>
          <a:lstStyle/>
          <a:p>
            <a:pPr algn="ctr">
              <a:lnSpc>
                <a:spcPts val="2160"/>
              </a:lnSpc>
            </a:pPr>
            <a:r>
              <a:rPr sz="1350" b="1" i="0" u="none">
                <a:solidFill>
                  <a:srgbClr val="5BC0BE"/>
                </a:solidFill>
                <a:latin typeface="Lato"/>
              </a:rPr>
              <a:t>Presentado por: José Luis Manayay Ayachi</a:t>
            </a:r>
          </a:p>
        </p:txBody>
      </p:sp>
      <p:sp>
        <p:nvSpPr>
          <p:cNvPr id="7" name="TextBox 6"/>
          <p:cNvSpPr txBox="1"/>
          <p:nvPr/>
        </p:nvSpPr>
        <p:spPr>
          <a:xfrm>
            <a:off x="1809750" y="4617690"/>
            <a:ext cx="8572500" cy="243780"/>
          </a:xfrm>
          <a:prstGeom prst="rect">
            <a:avLst/>
          </a:prstGeom>
          <a:noFill/>
        </p:spPr>
        <p:txBody>
          <a:bodyPr wrap="square" lIns="0" tIns="0" rIns="0" bIns="0" anchor="t">
            <a:spAutoFit/>
          </a:bodyPr>
          <a:lstStyle/>
          <a:p>
            <a:pPr algn="ctr">
              <a:lnSpc>
                <a:spcPts val="1920"/>
              </a:lnSpc>
            </a:pPr>
            <a:r>
              <a:rPr sz="1200" b="0" i="0" u="none" dirty="0" err="1">
                <a:solidFill>
                  <a:srgbClr val="9CA3AF"/>
                </a:solidFill>
                <a:latin typeface="Lato"/>
              </a:rPr>
              <a:t>FinanTech</a:t>
            </a:r>
            <a:r>
              <a:rPr sz="1200" b="0" i="0" u="none" dirty="0">
                <a:solidFill>
                  <a:srgbClr val="9CA3AF"/>
                </a:solidFill>
                <a:latin typeface="Lato"/>
              </a:rPr>
              <a:t> - 2026</a:t>
            </a:r>
          </a:p>
        </p:txBody>
      </p:sp>
      <p:pic>
        <p:nvPicPr>
          <p:cNvPr id="10" name="Audio 9">
            <a:hlinkClick r:id="" action="ppaction://media"/>
            <a:extLst>
              <a:ext uri="{FF2B5EF4-FFF2-40B4-BE49-F238E27FC236}">
                <a16:creationId xmlns:a16="http://schemas.microsoft.com/office/drawing/2014/main" id="{D4DDEA5B-42E8-86C8-4BB9-C7F0FAE607F5}"/>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23281"/>
    </mc:Choice>
    <mc:Fallback>
      <p:transition spd="slow" advTm="2328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6"/>
          <a:stretch>
            <a:fillRect/>
          </a:stretch>
        </p:blipFill>
        <p:spPr>
          <a:xfrm>
            <a:off x="6334125" y="2119312"/>
            <a:ext cx="5286375" cy="3619500"/>
          </a:xfrm>
          <a:prstGeom prst="rect">
            <a:avLst/>
          </a:prstGeom>
        </p:spPr>
      </p:pic>
      <p:sp>
        <p:nvSpPr>
          <p:cNvPr id="4" name="Rectangle 3"/>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7250" y="2450901"/>
            <a:ext cx="5000625" cy="548580"/>
          </a:xfrm>
          <a:prstGeom prst="rect">
            <a:avLst/>
          </a:prstGeom>
          <a:noFill/>
        </p:spPr>
        <p:txBody>
          <a:bodyPr wrap="square" lIns="0" tIns="0" rIns="0" bIns="0" anchor="t">
            <a:spAutoFit/>
          </a:bodyPr>
          <a:lstStyle/>
          <a:p>
            <a:pPr algn="l">
              <a:lnSpc>
                <a:spcPts val="2160"/>
              </a:lnSpc>
            </a:pPr>
            <a:r>
              <a:rPr sz="1350" b="1" i="0" u="none">
                <a:solidFill>
                  <a:srgbClr val="D1D5DB"/>
                </a:solidFill>
                <a:latin typeface="Lato"/>
              </a:rPr>
              <a:t>Acoplamiento:</a:t>
            </a:r>
            <a:r>
              <a:rPr sz="1350" b="0" i="0" u="none">
                <a:solidFill>
                  <a:srgbClr val="D1D5DB"/>
                </a:solidFill>
                <a:latin typeface="Lato"/>
              </a:rPr>
              <a:t> Los sistemas de riesgo se vinculan directamente al servidor físico (Desarrollo, QA, Producción).</a:t>
            </a:r>
          </a:p>
        </p:txBody>
      </p:sp>
      <p:sp>
        <p:nvSpPr>
          <p:cNvPr id="6" name="TextBox 5"/>
          <p:cNvSpPr txBox="1"/>
          <p:nvPr/>
        </p:nvSpPr>
        <p:spPr>
          <a:xfrm>
            <a:off x="857250" y="3189982"/>
            <a:ext cx="5000625" cy="548580"/>
          </a:xfrm>
          <a:prstGeom prst="rect">
            <a:avLst/>
          </a:prstGeom>
          <a:noFill/>
        </p:spPr>
        <p:txBody>
          <a:bodyPr wrap="square" lIns="0" tIns="0" rIns="0" bIns="0" anchor="t">
            <a:spAutoFit/>
          </a:bodyPr>
          <a:lstStyle/>
          <a:p>
            <a:pPr algn="l">
              <a:lnSpc>
                <a:spcPts val="2160"/>
              </a:lnSpc>
            </a:pPr>
            <a:r>
              <a:rPr sz="1350" b="1" i="0" u="none">
                <a:solidFill>
                  <a:srgbClr val="D1D5DB"/>
                </a:solidFill>
                <a:latin typeface="Lato"/>
              </a:rPr>
              <a:t>Opacidad:</a:t>
            </a:r>
            <a:r>
              <a:rPr sz="1350" b="0" i="0" u="none">
                <a:solidFill>
                  <a:srgbClr val="D1D5DB"/>
                </a:solidFill>
                <a:latin typeface="Lato"/>
              </a:rPr>
              <a:t> Falta de registros formales y líneas base entre los diferentes ambientes.</a:t>
            </a:r>
          </a:p>
        </p:txBody>
      </p:sp>
      <p:sp>
        <p:nvSpPr>
          <p:cNvPr id="7" name="TextBox 6"/>
          <p:cNvSpPr txBox="1"/>
          <p:nvPr/>
        </p:nvSpPr>
        <p:spPr>
          <a:xfrm>
            <a:off x="857250" y="3929062"/>
            <a:ext cx="5000625" cy="548580"/>
          </a:xfrm>
          <a:prstGeom prst="rect">
            <a:avLst/>
          </a:prstGeom>
          <a:noFill/>
        </p:spPr>
        <p:txBody>
          <a:bodyPr wrap="square" lIns="0" tIns="0" rIns="0" bIns="0" anchor="t">
            <a:spAutoFit/>
          </a:bodyPr>
          <a:lstStyle/>
          <a:p>
            <a:pPr algn="l">
              <a:lnSpc>
                <a:spcPts val="2160"/>
              </a:lnSpc>
            </a:pPr>
            <a:r>
              <a:rPr sz="1350" b="1" i="0" u="none">
                <a:solidFill>
                  <a:srgbClr val="D1D5DB"/>
                </a:solidFill>
                <a:latin typeface="Lato"/>
              </a:rPr>
              <a:t>Sobretrabajo:</a:t>
            </a:r>
            <a:r>
              <a:rPr sz="1350" b="0" i="0" u="none">
                <a:solidFill>
                  <a:srgbClr val="D1D5DB"/>
                </a:solidFill>
                <a:latin typeface="Lato"/>
              </a:rPr>
              <a:t> La operación para el traspaso de versiones requiere la copia manual de archivos.</a:t>
            </a:r>
          </a:p>
        </p:txBody>
      </p:sp>
      <p:sp>
        <p:nvSpPr>
          <p:cNvPr id="8" name="TextBox 7"/>
          <p:cNvSpPr txBox="1"/>
          <p:nvPr/>
        </p:nvSpPr>
        <p:spPr>
          <a:xfrm>
            <a:off x="857250" y="4668142"/>
            <a:ext cx="5000625" cy="548580"/>
          </a:xfrm>
          <a:prstGeom prst="rect">
            <a:avLst/>
          </a:prstGeom>
          <a:noFill/>
        </p:spPr>
        <p:txBody>
          <a:bodyPr wrap="square" lIns="0" tIns="0" rIns="0" bIns="0" anchor="t">
            <a:spAutoFit/>
          </a:bodyPr>
          <a:lstStyle/>
          <a:p>
            <a:pPr algn="l">
              <a:lnSpc>
                <a:spcPts val="2160"/>
              </a:lnSpc>
            </a:pPr>
            <a:r>
              <a:rPr sz="1350" b="1" i="0" u="none">
                <a:solidFill>
                  <a:srgbClr val="D1D5DB"/>
                </a:solidFill>
                <a:latin typeface="Lato"/>
              </a:rPr>
              <a:t>Bloqueos:</a:t>
            </a:r>
            <a:r>
              <a:rPr sz="1350" b="0" i="0" u="none">
                <a:solidFill>
                  <a:srgbClr val="D1D5DB"/>
                </a:solidFill>
                <a:latin typeface="Lato"/>
              </a:rPr>
              <a:t> Imposibilidad de realizar desarrollo evolutivo en paralelo de manera segura.</a:t>
            </a:r>
          </a:p>
        </p:txBody>
      </p:sp>
      <p:pic>
        <p:nvPicPr>
          <p:cNvPr id="9" name="Picture 8" descr="image.png"/>
          <p:cNvPicPr>
            <a:picLocks noChangeAspect="1"/>
          </p:cNvPicPr>
          <p:nvPr/>
        </p:nvPicPr>
        <p:blipFill>
          <a:blip r:embed="rId7"/>
          <a:stretch>
            <a:fillRect/>
          </a:stretch>
        </p:blipFill>
        <p:spPr>
          <a:xfrm>
            <a:off x="6343650" y="2128837"/>
            <a:ext cx="5267325" cy="3600450"/>
          </a:xfrm>
          <a:prstGeom prst="rect">
            <a:avLst/>
          </a:prstGeom>
        </p:spPr>
      </p:pic>
      <p:sp>
        <p:nvSpPr>
          <p:cNvPr id="10" name="TextBox 9"/>
          <p:cNvSpPr txBox="1"/>
          <p:nvPr/>
        </p:nvSpPr>
        <p:spPr>
          <a:xfrm>
            <a:off x="571500" y="619125"/>
            <a:ext cx="11601450" cy="571500"/>
          </a:xfrm>
          <a:prstGeom prst="rect">
            <a:avLst/>
          </a:prstGeom>
          <a:noFill/>
        </p:spPr>
        <p:txBody>
          <a:bodyPr wrap="square" lIns="0" tIns="0" rIns="0" bIns="0" anchor="t">
            <a:spAutoFit/>
          </a:bodyPr>
          <a:lstStyle/>
          <a:p>
            <a:pPr algn="l"/>
            <a:r>
              <a:rPr sz="3000" b="0" i="0" u="none">
                <a:solidFill>
                  <a:srgbClr val="5BC0BE"/>
                </a:solidFill>
                <a:latin typeface="Poppins SemiBold"/>
              </a:rPr>
              <a:t>Contexto y Problemática</a:t>
            </a:r>
          </a:p>
        </p:txBody>
      </p:sp>
      <p:pic>
        <p:nvPicPr>
          <p:cNvPr id="11" name="Picture 10" descr="image.png"/>
          <p:cNvPicPr>
            <a:picLocks noChangeAspect="1"/>
          </p:cNvPicPr>
          <p:nvPr/>
        </p:nvPicPr>
        <p:blipFill>
          <a:blip r:embed="rId8"/>
          <a:stretch>
            <a:fillRect/>
          </a:stretch>
        </p:blipFill>
        <p:spPr>
          <a:xfrm>
            <a:off x="571500" y="2469951"/>
            <a:ext cx="104775" cy="180975"/>
          </a:xfrm>
          <a:prstGeom prst="rect">
            <a:avLst/>
          </a:prstGeom>
        </p:spPr>
      </p:pic>
      <p:pic>
        <p:nvPicPr>
          <p:cNvPr id="12" name="Picture 11" descr="image.png"/>
          <p:cNvPicPr>
            <a:picLocks noChangeAspect="1"/>
          </p:cNvPicPr>
          <p:nvPr/>
        </p:nvPicPr>
        <p:blipFill>
          <a:blip r:embed="rId8"/>
          <a:stretch>
            <a:fillRect/>
          </a:stretch>
        </p:blipFill>
        <p:spPr>
          <a:xfrm>
            <a:off x="571500" y="3209032"/>
            <a:ext cx="104775" cy="180975"/>
          </a:xfrm>
          <a:prstGeom prst="rect">
            <a:avLst/>
          </a:prstGeom>
        </p:spPr>
      </p:pic>
      <p:pic>
        <p:nvPicPr>
          <p:cNvPr id="13" name="Picture 12" descr="image.png"/>
          <p:cNvPicPr>
            <a:picLocks noChangeAspect="1"/>
          </p:cNvPicPr>
          <p:nvPr/>
        </p:nvPicPr>
        <p:blipFill>
          <a:blip r:embed="rId8"/>
          <a:stretch>
            <a:fillRect/>
          </a:stretch>
        </p:blipFill>
        <p:spPr>
          <a:xfrm>
            <a:off x="571500" y="3948112"/>
            <a:ext cx="104775" cy="180975"/>
          </a:xfrm>
          <a:prstGeom prst="rect">
            <a:avLst/>
          </a:prstGeom>
        </p:spPr>
      </p:pic>
      <p:pic>
        <p:nvPicPr>
          <p:cNvPr id="14" name="Picture 13" descr="image.png"/>
          <p:cNvPicPr>
            <a:picLocks noChangeAspect="1"/>
          </p:cNvPicPr>
          <p:nvPr/>
        </p:nvPicPr>
        <p:blipFill>
          <a:blip r:embed="rId8"/>
          <a:stretch>
            <a:fillRect/>
          </a:stretch>
        </p:blipFill>
        <p:spPr>
          <a:xfrm>
            <a:off x="571500" y="4687192"/>
            <a:ext cx="104775" cy="180975"/>
          </a:xfrm>
          <a:prstGeom prst="rect">
            <a:avLst/>
          </a:prstGeom>
        </p:spPr>
      </p:pic>
      <p:pic>
        <p:nvPicPr>
          <p:cNvPr id="20" name="Audio 19">
            <a:hlinkClick r:id="" action="ppaction://media"/>
            <a:extLst>
              <a:ext uri="{FF2B5EF4-FFF2-40B4-BE49-F238E27FC236}">
                <a16:creationId xmlns:a16="http://schemas.microsoft.com/office/drawing/2014/main" id="{A5E73D0C-C05F-BB4A-079B-E81BD2E60B25}"/>
              </a:ext>
            </a:extLst>
          </p:cNvPr>
          <p:cNvPicPr>
            <a:picLocks noChangeAspect="1"/>
          </p:cNvPicPr>
          <p:nvPr>
            <a:audioFile r:link="rId2"/>
            <p:extLst>
              <p:ext uri="{DAA4B4D4-6D71-4841-9C94-3DE7FCFB9230}">
                <p14:media xmlns:p14="http://schemas.microsoft.com/office/powerpoint/2010/main" r:embed="rId1"/>
              </p:ext>
            </p:extLst>
          </p:nvPr>
        </p:nvPicPr>
        <p:blipFill>
          <a:blip r:embed="rId9"/>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31220"/>
    </mc:Choice>
    <mc:Fallback>
      <p:transition spd="slow" advTm="3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0"/>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6"/>
          <a:stretch>
            <a:fillRect/>
          </a:stretch>
        </p:blipFill>
        <p:spPr>
          <a:xfrm>
            <a:off x="571500" y="2213669"/>
            <a:ext cx="3429000" cy="3430785"/>
          </a:xfrm>
          <a:prstGeom prst="rect">
            <a:avLst/>
          </a:prstGeom>
        </p:spPr>
      </p:pic>
      <p:pic>
        <p:nvPicPr>
          <p:cNvPr id="4" name="Picture 3" descr="image.png"/>
          <p:cNvPicPr>
            <a:picLocks noChangeAspect="1"/>
          </p:cNvPicPr>
          <p:nvPr/>
        </p:nvPicPr>
        <p:blipFill>
          <a:blip r:embed="rId7"/>
          <a:stretch>
            <a:fillRect/>
          </a:stretch>
        </p:blipFill>
        <p:spPr>
          <a:xfrm>
            <a:off x="4381500" y="2213669"/>
            <a:ext cx="3429000" cy="3430785"/>
          </a:xfrm>
          <a:prstGeom prst="rect">
            <a:avLst/>
          </a:prstGeom>
        </p:spPr>
      </p:pic>
      <p:pic>
        <p:nvPicPr>
          <p:cNvPr id="5" name="Picture 4" descr="image.png"/>
          <p:cNvPicPr>
            <a:picLocks noChangeAspect="1"/>
          </p:cNvPicPr>
          <p:nvPr/>
        </p:nvPicPr>
        <p:blipFill>
          <a:blip r:embed="rId8"/>
          <a:stretch>
            <a:fillRect/>
          </a:stretch>
        </p:blipFill>
        <p:spPr>
          <a:xfrm>
            <a:off x="8191500" y="2213669"/>
            <a:ext cx="3429000" cy="3430785"/>
          </a:xfrm>
          <a:prstGeom prst="rect">
            <a:avLst/>
          </a:prstGeom>
        </p:spPr>
      </p:pic>
      <p:sp>
        <p:nvSpPr>
          <p:cNvPr id="6" name="Rectangle 5"/>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0840" y="3470969"/>
            <a:ext cx="2550318" cy="400050"/>
          </a:xfrm>
          <a:prstGeom prst="rect">
            <a:avLst/>
          </a:prstGeom>
          <a:noFill/>
        </p:spPr>
        <p:txBody>
          <a:bodyPr wrap="square" lIns="0" tIns="0" rIns="0" bIns="0" anchor="t">
            <a:spAutoFit/>
          </a:bodyPr>
          <a:lstStyle/>
          <a:p>
            <a:pPr algn="ctr"/>
            <a:r>
              <a:rPr sz="2100" b="0" i="0" u="none">
                <a:solidFill>
                  <a:srgbClr val="5BC0BE"/>
                </a:solidFill>
                <a:latin typeface="Poppins SemiBold"/>
              </a:rPr>
              <a:t>Incertidumbre QA</a:t>
            </a:r>
          </a:p>
        </p:txBody>
      </p:sp>
      <p:sp>
        <p:nvSpPr>
          <p:cNvPr id="8" name="TextBox 7"/>
          <p:cNvSpPr txBox="1"/>
          <p:nvPr/>
        </p:nvSpPr>
        <p:spPr>
          <a:xfrm>
            <a:off x="866775" y="4013894"/>
            <a:ext cx="2838450" cy="1097160"/>
          </a:xfrm>
          <a:prstGeom prst="rect">
            <a:avLst/>
          </a:prstGeom>
          <a:noFill/>
        </p:spPr>
        <p:txBody>
          <a:bodyPr wrap="square" lIns="0" tIns="0" rIns="0" bIns="0" anchor="t">
            <a:spAutoFit/>
          </a:bodyPr>
          <a:lstStyle/>
          <a:p>
            <a:pPr algn="ctr">
              <a:lnSpc>
                <a:spcPts val="2160"/>
              </a:lnSpc>
            </a:pPr>
            <a:r>
              <a:rPr sz="1350" b="0" i="0" u="none">
                <a:solidFill>
                  <a:srgbClr val="D1D5DB"/>
                </a:solidFill>
                <a:latin typeface="Lato"/>
              </a:rPr>
              <a:t>La dependencia directa entre componentes de software y servidores afecta severamente la certificación de calidad.</a:t>
            </a:r>
          </a:p>
        </p:txBody>
      </p:sp>
      <p:sp>
        <p:nvSpPr>
          <p:cNvPr id="9" name="TextBox 8"/>
          <p:cNvSpPr txBox="1"/>
          <p:nvPr/>
        </p:nvSpPr>
        <p:spPr>
          <a:xfrm>
            <a:off x="4855845" y="3470969"/>
            <a:ext cx="2480310" cy="400050"/>
          </a:xfrm>
          <a:prstGeom prst="rect">
            <a:avLst/>
          </a:prstGeom>
          <a:noFill/>
        </p:spPr>
        <p:txBody>
          <a:bodyPr wrap="square" lIns="0" tIns="0" rIns="0" bIns="0" anchor="t">
            <a:spAutoFit/>
          </a:bodyPr>
          <a:lstStyle/>
          <a:p>
            <a:pPr algn="ctr"/>
            <a:r>
              <a:rPr sz="2100" b="0" i="0" u="none">
                <a:solidFill>
                  <a:srgbClr val="5BC0BE"/>
                </a:solidFill>
                <a:latin typeface="Poppins SemiBold"/>
              </a:rPr>
              <a:t>Errores Manuales</a:t>
            </a:r>
          </a:p>
        </p:txBody>
      </p:sp>
      <p:sp>
        <p:nvSpPr>
          <p:cNvPr id="10" name="TextBox 9"/>
          <p:cNvSpPr txBox="1"/>
          <p:nvPr/>
        </p:nvSpPr>
        <p:spPr>
          <a:xfrm>
            <a:off x="4676775" y="4013894"/>
            <a:ext cx="2838450" cy="1097160"/>
          </a:xfrm>
          <a:prstGeom prst="rect">
            <a:avLst/>
          </a:prstGeom>
          <a:noFill/>
        </p:spPr>
        <p:txBody>
          <a:bodyPr wrap="square" lIns="0" tIns="0" rIns="0" bIns="0" anchor="t">
            <a:spAutoFit/>
          </a:bodyPr>
          <a:lstStyle/>
          <a:p>
            <a:pPr algn="ctr">
              <a:lnSpc>
                <a:spcPts val="2160"/>
              </a:lnSpc>
            </a:pPr>
            <a:r>
              <a:rPr sz="1350" b="0" i="0" u="none">
                <a:solidFill>
                  <a:srgbClr val="D1D5DB"/>
                </a:solidFill>
                <a:latin typeface="Lato"/>
              </a:rPr>
              <a:t>La ausencia de una biblioteca centralizada y un empaquetado formal incrementa la tasa de errores en los despliegues.</a:t>
            </a:r>
          </a:p>
        </p:txBody>
      </p:sp>
      <p:sp>
        <p:nvSpPr>
          <p:cNvPr id="11" name="TextBox 10"/>
          <p:cNvSpPr txBox="1"/>
          <p:nvPr/>
        </p:nvSpPr>
        <p:spPr>
          <a:xfrm>
            <a:off x="8800861" y="3470969"/>
            <a:ext cx="2210276" cy="400050"/>
          </a:xfrm>
          <a:prstGeom prst="rect">
            <a:avLst/>
          </a:prstGeom>
          <a:noFill/>
        </p:spPr>
        <p:txBody>
          <a:bodyPr wrap="square" lIns="0" tIns="0" rIns="0" bIns="0" anchor="t">
            <a:spAutoFit/>
          </a:bodyPr>
          <a:lstStyle/>
          <a:p>
            <a:pPr algn="ctr"/>
            <a:r>
              <a:rPr sz="2100" b="0" i="0" u="none">
                <a:solidFill>
                  <a:srgbClr val="5BC0BE"/>
                </a:solidFill>
                <a:latin typeface="Poppins SemiBold"/>
              </a:rPr>
              <a:t>Sin Paralelismo</a:t>
            </a:r>
          </a:p>
        </p:txBody>
      </p:sp>
      <p:sp>
        <p:nvSpPr>
          <p:cNvPr id="12" name="TextBox 11"/>
          <p:cNvSpPr txBox="1"/>
          <p:nvPr/>
        </p:nvSpPr>
        <p:spPr>
          <a:xfrm>
            <a:off x="8486775" y="4013894"/>
            <a:ext cx="2838450" cy="822870"/>
          </a:xfrm>
          <a:prstGeom prst="rect">
            <a:avLst/>
          </a:prstGeom>
          <a:noFill/>
        </p:spPr>
        <p:txBody>
          <a:bodyPr wrap="square" lIns="0" tIns="0" rIns="0" bIns="0" anchor="t">
            <a:spAutoFit/>
          </a:bodyPr>
          <a:lstStyle/>
          <a:p>
            <a:pPr algn="ctr">
              <a:lnSpc>
                <a:spcPts val="2160"/>
              </a:lnSpc>
            </a:pPr>
            <a:r>
              <a:rPr sz="1350" b="0" i="0" u="none">
                <a:solidFill>
                  <a:srgbClr val="D1D5DB"/>
                </a:solidFill>
                <a:latin typeface="Lato"/>
              </a:rPr>
              <a:t>La falta de estrategias de ramificación y aislamiento impide ejecutar múltiples actualizaciones en paralelo.</a:t>
            </a:r>
          </a:p>
        </p:txBody>
      </p:sp>
      <p:pic>
        <p:nvPicPr>
          <p:cNvPr id="13" name="Picture 12" descr="image.png"/>
          <p:cNvPicPr>
            <a:picLocks noChangeAspect="1"/>
          </p:cNvPicPr>
          <p:nvPr/>
        </p:nvPicPr>
        <p:blipFill>
          <a:blip r:embed="rId9"/>
          <a:stretch>
            <a:fillRect/>
          </a:stretch>
        </p:blipFill>
        <p:spPr>
          <a:xfrm>
            <a:off x="2024062" y="2661344"/>
            <a:ext cx="523875" cy="523875"/>
          </a:xfrm>
          <a:prstGeom prst="rect">
            <a:avLst/>
          </a:prstGeom>
        </p:spPr>
      </p:pic>
      <p:pic>
        <p:nvPicPr>
          <p:cNvPr id="14" name="Picture 13" descr="image.png"/>
          <p:cNvPicPr>
            <a:picLocks noChangeAspect="1"/>
          </p:cNvPicPr>
          <p:nvPr/>
        </p:nvPicPr>
        <p:blipFill>
          <a:blip r:embed="rId10"/>
          <a:stretch>
            <a:fillRect/>
          </a:stretch>
        </p:blipFill>
        <p:spPr>
          <a:xfrm>
            <a:off x="5834062" y="2661344"/>
            <a:ext cx="523875" cy="523875"/>
          </a:xfrm>
          <a:prstGeom prst="rect">
            <a:avLst/>
          </a:prstGeom>
        </p:spPr>
      </p:pic>
      <p:pic>
        <p:nvPicPr>
          <p:cNvPr id="15" name="Picture 14" descr="image.png"/>
          <p:cNvPicPr>
            <a:picLocks noChangeAspect="1"/>
          </p:cNvPicPr>
          <p:nvPr/>
        </p:nvPicPr>
        <p:blipFill>
          <a:blip r:embed="rId11"/>
          <a:stretch>
            <a:fillRect/>
          </a:stretch>
        </p:blipFill>
        <p:spPr>
          <a:xfrm>
            <a:off x="9677400" y="2661344"/>
            <a:ext cx="457200" cy="523875"/>
          </a:xfrm>
          <a:prstGeom prst="rect">
            <a:avLst/>
          </a:prstGeom>
        </p:spPr>
      </p:pic>
      <p:sp>
        <p:nvSpPr>
          <p:cNvPr id="16" name="TextBox 15"/>
          <p:cNvSpPr txBox="1"/>
          <p:nvPr/>
        </p:nvSpPr>
        <p:spPr>
          <a:xfrm>
            <a:off x="571500" y="619125"/>
            <a:ext cx="11601450" cy="571500"/>
          </a:xfrm>
          <a:prstGeom prst="rect">
            <a:avLst/>
          </a:prstGeom>
          <a:noFill/>
        </p:spPr>
        <p:txBody>
          <a:bodyPr wrap="square" lIns="0" tIns="0" rIns="0" bIns="0" anchor="t">
            <a:spAutoFit/>
          </a:bodyPr>
          <a:lstStyle/>
          <a:p>
            <a:pPr algn="l"/>
            <a:r>
              <a:rPr sz="3000" b="0" i="0" u="none">
                <a:solidFill>
                  <a:srgbClr val="5BC0BE"/>
                </a:solidFill>
                <a:latin typeface="Poppins SemiBold"/>
              </a:rPr>
              <a:t>Problemas Específicos</a:t>
            </a:r>
          </a:p>
        </p:txBody>
      </p:sp>
      <p:pic>
        <p:nvPicPr>
          <p:cNvPr id="20" name="Audio 19">
            <a:hlinkClick r:id="" action="ppaction://media"/>
            <a:extLst>
              <a:ext uri="{FF2B5EF4-FFF2-40B4-BE49-F238E27FC236}">
                <a16:creationId xmlns:a16="http://schemas.microsoft.com/office/drawing/2014/main" id="{0319FD27-3518-459A-98FC-BB7EAB1D17EA}"/>
              </a:ext>
            </a:extLst>
          </p:cNvPr>
          <p:cNvPicPr>
            <a:picLocks noChangeAspect="1"/>
          </p:cNvPicPr>
          <p:nvPr>
            <a:audioFile r:link="rId2"/>
            <p:extLst>
              <p:ext uri="{DAA4B4D4-6D71-4841-9C94-3DE7FCFB9230}">
                <p14:media xmlns:p14="http://schemas.microsoft.com/office/powerpoint/2010/main" r:embed="rId1"/>
              </p:ext>
            </p:extLst>
          </p:nvPr>
        </p:nvPicPr>
        <p:blipFill>
          <a:blip r:embed="rId12"/>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45856"/>
    </mc:Choice>
    <mc:Fallback>
      <p:transition spd="slow" advTm="4585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0"/>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sp>
        <p:nvSpPr>
          <p:cNvPr id="3" name="Rectangle 2"/>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524500" y="2356544"/>
            <a:ext cx="1143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490674" y="2689919"/>
            <a:ext cx="5210651" cy="857250"/>
          </a:xfrm>
          <a:prstGeom prst="rect">
            <a:avLst/>
          </a:prstGeom>
          <a:noFill/>
        </p:spPr>
        <p:txBody>
          <a:bodyPr wrap="square" lIns="0" tIns="0" rIns="0" bIns="0" anchor="t">
            <a:spAutoFit/>
          </a:bodyPr>
          <a:lstStyle/>
          <a:p>
            <a:pPr algn="ctr"/>
            <a:r>
              <a:rPr sz="4500" b="1" i="0" u="none">
                <a:solidFill>
                  <a:srgbClr val="FFFFFF"/>
                </a:solidFill>
                <a:latin typeface="Poppins"/>
              </a:rPr>
              <a:t>Objetivo General</a:t>
            </a:r>
          </a:p>
        </p:txBody>
      </p:sp>
      <p:sp>
        <p:nvSpPr>
          <p:cNvPr id="6" name="TextBox 5"/>
          <p:cNvSpPr txBox="1"/>
          <p:nvPr/>
        </p:nvSpPr>
        <p:spPr>
          <a:xfrm>
            <a:off x="2286000" y="3737669"/>
            <a:ext cx="7620000" cy="1097012"/>
          </a:xfrm>
          <a:prstGeom prst="rect">
            <a:avLst/>
          </a:prstGeom>
          <a:noFill/>
        </p:spPr>
        <p:txBody>
          <a:bodyPr wrap="square" lIns="0" tIns="0" rIns="0" bIns="0" anchor="t">
            <a:spAutoFit/>
          </a:bodyPr>
          <a:lstStyle/>
          <a:p>
            <a:pPr algn="ctr">
              <a:lnSpc>
                <a:spcPts val="2879"/>
              </a:lnSpc>
            </a:pPr>
            <a:r>
              <a:rPr sz="1800" b="0" i="0" u="none">
                <a:solidFill>
                  <a:srgbClr val="9CA3AF"/>
                </a:solidFill>
                <a:latin typeface="Lato"/>
              </a:rPr>
              <a:t>Diseñar e implementar un proceso de gestión de la configuración que permita el seguimiento de componentes, desacoplando las versiones de los servidores físicos y automatizando los despliegues.</a:t>
            </a:r>
          </a:p>
        </p:txBody>
      </p:sp>
      <p:pic>
        <p:nvPicPr>
          <p:cNvPr id="13" name="Audio 12">
            <a:hlinkClick r:id="" action="ppaction://media"/>
            <a:extLst>
              <a:ext uri="{FF2B5EF4-FFF2-40B4-BE49-F238E27FC236}">
                <a16:creationId xmlns:a16="http://schemas.microsoft.com/office/drawing/2014/main" id="{02DBCACF-22CB-5A51-2138-5555C025A213}"/>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27383"/>
    </mc:Choice>
    <mc:Fallback>
      <p:transition spd="slow" advTm="2738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3"/>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6"/>
          <a:stretch>
            <a:fillRect/>
          </a:stretch>
        </p:blipFill>
        <p:spPr>
          <a:xfrm>
            <a:off x="571500" y="2213669"/>
            <a:ext cx="3429000" cy="3430785"/>
          </a:xfrm>
          <a:prstGeom prst="rect">
            <a:avLst/>
          </a:prstGeom>
        </p:spPr>
      </p:pic>
      <p:pic>
        <p:nvPicPr>
          <p:cNvPr id="4" name="Picture 3" descr="image.png"/>
          <p:cNvPicPr>
            <a:picLocks noChangeAspect="1"/>
          </p:cNvPicPr>
          <p:nvPr/>
        </p:nvPicPr>
        <p:blipFill>
          <a:blip r:embed="rId7"/>
          <a:stretch>
            <a:fillRect/>
          </a:stretch>
        </p:blipFill>
        <p:spPr>
          <a:xfrm>
            <a:off x="4381500" y="2213669"/>
            <a:ext cx="3429000" cy="3430785"/>
          </a:xfrm>
          <a:prstGeom prst="rect">
            <a:avLst/>
          </a:prstGeom>
        </p:spPr>
      </p:pic>
      <p:pic>
        <p:nvPicPr>
          <p:cNvPr id="5" name="Picture 4" descr="image.png"/>
          <p:cNvPicPr>
            <a:picLocks noChangeAspect="1"/>
          </p:cNvPicPr>
          <p:nvPr/>
        </p:nvPicPr>
        <p:blipFill>
          <a:blip r:embed="rId8"/>
          <a:stretch>
            <a:fillRect/>
          </a:stretch>
        </p:blipFill>
        <p:spPr>
          <a:xfrm>
            <a:off x="8191500" y="2213669"/>
            <a:ext cx="3429000" cy="3430785"/>
          </a:xfrm>
          <a:prstGeom prst="rect">
            <a:avLst/>
          </a:prstGeom>
        </p:spPr>
      </p:pic>
      <p:sp>
        <p:nvSpPr>
          <p:cNvPr id="6" name="Rectangle 5"/>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45882" y="3470969"/>
            <a:ext cx="1880235" cy="400050"/>
          </a:xfrm>
          <a:prstGeom prst="rect">
            <a:avLst/>
          </a:prstGeom>
          <a:noFill/>
        </p:spPr>
        <p:txBody>
          <a:bodyPr wrap="square" lIns="0" tIns="0" rIns="0" bIns="0" anchor="t">
            <a:spAutoFit/>
          </a:bodyPr>
          <a:lstStyle/>
          <a:p>
            <a:pPr algn="ctr"/>
            <a:r>
              <a:rPr sz="2100" b="0" i="0" u="none">
                <a:solidFill>
                  <a:srgbClr val="5BC0BE"/>
                </a:solidFill>
                <a:latin typeface="Poppins SemiBold"/>
              </a:rPr>
              <a:t>Ciclo de Vida</a:t>
            </a:r>
          </a:p>
        </p:txBody>
      </p:sp>
      <p:sp>
        <p:nvSpPr>
          <p:cNvPr id="8" name="TextBox 7"/>
          <p:cNvSpPr txBox="1"/>
          <p:nvPr/>
        </p:nvSpPr>
        <p:spPr>
          <a:xfrm>
            <a:off x="866775" y="4013894"/>
            <a:ext cx="2838450" cy="1097160"/>
          </a:xfrm>
          <a:prstGeom prst="rect">
            <a:avLst/>
          </a:prstGeom>
          <a:noFill/>
        </p:spPr>
        <p:txBody>
          <a:bodyPr wrap="square" lIns="0" tIns="0" rIns="0" bIns="0" anchor="t">
            <a:spAutoFit/>
          </a:bodyPr>
          <a:lstStyle/>
          <a:p>
            <a:pPr algn="ctr">
              <a:lnSpc>
                <a:spcPts val="2160"/>
              </a:lnSpc>
            </a:pPr>
            <a:r>
              <a:rPr sz="1350" b="0" i="0" u="none">
                <a:solidFill>
                  <a:srgbClr val="D1D5DB"/>
                </a:solidFill>
                <a:latin typeface="Lato"/>
              </a:rPr>
              <a:t>Estandarizar y sistematizar las actividades de registrar, nombrar y empaquetar los cambios (ej. v1.0-rc1, v1.0).</a:t>
            </a:r>
          </a:p>
        </p:txBody>
      </p:sp>
      <p:sp>
        <p:nvSpPr>
          <p:cNvPr id="9" name="TextBox 8"/>
          <p:cNvSpPr txBox="1"/>
          <p:nvPr/>
        </p:nvSpPr>
        <p:spPr>
          <a:xfrm>
            <a:off x="4815840" y="3470969"/>
            <a:ext cx="2560320" cy="400050"/>
          </a:xfrm>
          <a:prstGeom prst="rect">
            <a:avLst/>
          </a:prstGeom>
          <a:noFill/>
        </p:spPr>
        <p:txBody>
          <a:bodyPr wrap="square" lIns="0" tIns="0" rIns="0" bIns="0" anchor="t">
            <a:spAutoFit/>
          </a:bodyPr>
          <a:lstStyle/>
          <a:p>
            <a:pPr algn="ctr"/>
            <a:r>
              <a:rPr sz="2100" b="0" i="0" u="none">
                <a:solidFill>
                  <a:srgbClr val="5BC0BE"/>
                </a:solidFill>
                <a:latin typeface="Poppins SemiBold"/>
              </a:rPr>
              <a:t>Desacoplamiento</a:t>
            </a:r>
          </a:p>
        </p:txBody>
      </p:sp>
      <p:sp>
        <p:nvSpPr>
          <p:cNvPr id="10" name="TextBox 9"/>
          <p:cNvSpPr txBox="1"/>
          <p:nvPr/>
        </p:nvSpPr>
        <p:spPr>
          <a:xfrm>
            <a:off x="4676775" y="4013894"/>
            <a:ext cx="2838450" cy="1097160"/>
          </a:xfrm>
          <a:prstGeom prst="rect">
            <a:avLst/>
          </a:prstGeom>
          <a:noFill/>
        </p:spPr>
        <p:txBody>
          <a:bodyPr wrap="square" lIns="0" tIns="0" rIns="0" bIns="0" anchor="t">
            <a:spAutoFit/>
          </a:bodyPr>
          <a:lstStyle/>
          <a:p>
            <a:pPr algn="ctr">
              <a:lnSpc>
                <a:spcPts val="2160"/>
              </a:lnSpc>
            </a:pPr>
            <a:r>
              <a:rPr sz="1350" b="0" i="0" u="none">
                <a:solidFill>
                  <a:srgbClr val="D1D5DB"/>
                </a:solidFill>
                <a:latin typeface="Lato"/>
              </a:rPr>
              <a:t>Independizar el software de los servidores mediante la generación de una biblioteca de paquetes ejecutables.</a:t>
            </a:r>
          </a:p>
        </p:txBody>
      </p:sp>
      <p:sp>
        <p:nvSpPr>
          <p:cNvPr id="11" name="TextBox 10"/>
          <p:cNvSpPr txBox="1"/>
          <p:nvPr/>
        </p:nvSpPr>
        <p:spPr>
          <a:xfrm>
            <a:off x="8755856" y="3470969"/>
            <a:ext cx="2300287" cy="400050"/>
          </a:xfrm>
          <a:prstGeom prst="rect">
            <a:avLst/>
          </a:prstGeom>
          <a:noFill/>
        </p:spPr>
        <p:txBody>
          <a:bodyPr wrap="square" lIns="0" tIns="0" rIns="0" bIns="0" anchor="t">
            <a:spAutoFit/>
          </a:bodyPr>
          <a:lstStyle/>
          <a:p>
            <a:pPr algn="ctr"/>
            <a:r>
              <a:rPr sz="2100" b="0" i="0" u="none">
                <a:solidFill>
                  <a:srgbClr val="5BC0BE"/>
                </a:solidFill>
                <a:latin typeface="Poppins SemiBold"/>
              </a:rPr>
              <a:t>Automatización</a:t>
            </a:r>
          </a:p>
        </p:txBody>
      </p:sp>
      <p:sp>
        <p:nvSpPr>
          <p:cNvPr id="12" name="TextBox 11"/>
          <p:cNvSpPr txBox="1"/>
          <p:nvPr/>
        </p:nvSpPr>
        <p:spPr>
          <a:xfrm>
            <a:off x="8486775" y="4013894"/>
            <a:ext cx="2838450" cy="822870"/>
          </a:xfrm>
          <a:prstGeom prst="rect">
            <a:avLst/>
          </a:prstGeom>
          <a:noFill/>
        </p:spPr>
        <p:txBody>
          <a:bodyPr wrap="square" lIns="0" tIns="0" rIns="0" bIns="0" anchor="t">
            <a:spAutoFit/>
          </a:bodyPr>
          <a:lstStyle/>
          <a:p>
            <a:pPr algn="ctr">
              <a:lnSpc>
                <a:spcPts val="2160"/>
              </a:lnSpc>
            </a:pPr>
            <a:r>
              <a:rPr sz="1350" b="0" i="0" u="none">
                <a:solidFill>
                  <a:srgbClr val="D1D5DB"/>
                </a:solidFill>
                <a:latin typeface="Lato"/>
              </a:rPr>
              <a:t>Desplegar en servidores productivos, de QA y de desarrollo sin depender de la copia manual de archivos.</a:t>
            </a:r>
          </a:p>
        </p:txBody>
      </p:sp>
      <p:pic>
        <p:nvPicPr>
          <p:cNvPr id="13" name="Picture 12" descr="image.png"/>
          <p:cNvPicPr>
            <a:picLocks noChangeAspect="1"/>
          </p:cNvPicPr>
          <p:nvPr/>
        </p:nvPicPr>
        <p:blipFill>
          <a:blip r:embed="rId9"/>
          <a:stretch>
            <a:fillRect/>
          </a:stretch>
        </p:blipFill>
        <p:spPr>
          <a:xfrm>
            <a:off x="2024062" y="2661344"/>
            <a:ext cx="523875" cy="523875"/>
          </a:xfrm>
          <a:prstGeom prst="rect">
            <a:avLst/>
          </a:prstGeom>
        </p:spPr>
      </p:pic>
      <p:pic>
        <p:nvPicPr>
          <p:cNvPr id="14" name="Picture 13" descr="image.png"/>
          <p:cNvPicPr>
            <a:picLocks noChangeAspect="1"/>
          </p:cNvPicPr>
          <p:nvPr/>
        </p:nvPicPr>
        <p:blipFill>
          <a:blip r:embed="rId10"/>
          <a:stretch>
            <a:fillRect/>
          </a:stretch>
        </p:blipFill>
        <p:spPr>
          <a:xfrm>
            <a:off x="5800725" y="2661344"/>
            <a:ext cx="590550" cy="523875"/>
          </a:xfrm>
          <a:prstGeom prst="rect">
            <a:avLst/>
          </a:prstGeom>
        </p:spPr>
      </p:pic>
      <p:pic>
        <p:nvPicPr>
          <p:cNvPr id="15" name="Picture 14" descr="image.png"/>
          <p:cNvPicPr>
            <a:picLocks noChangeAspect="1"/>
          </p:cNvPicPr>
          <p:nvPr/>
        </p:nvPicPr>
        <p:blipFill>
          <a:blip r:embed="rId11"/>
          <a:stretch>
            <a:fillRect/>
          </a:stretch>
        </p:blipFill>
        <p:spPr>
          <a:xfrm>
            <a:off x="9644062" y="2661344"/>
            <a:ext cx="523875" cy="523875"/>
          </a:xfrm>
          <a:prstGeom prst="rect">
            <a:avLst/>
          </a:prstGeom>
        </p:spPr>
      </p:pic>
      <p:sp>
        <p:nvSpPr>
          <p:cNvPr id="16" name="TextBox 15"/>
          <p:cNvSpPr txBox="1"/>
          <p:nvPr/>
        </p:nvSpPr>
        <p:spPr>
          <a:xfrm>
            <a:off x="571500" y="619125"/>
            <a:ext cx="11601450" cy="571500"/>
          </a:xfrm>
          <a:prstGeom prst="rect">
            <a:avLst/>
          </a:prstGeom>
          <a:noFill/>
        </p:spPr>
        <p:txBody>
          <a:bodyPr wrap="square" lIns="0" tIns="0" rIns="0" bIns="0" anchor="t">
            <a:spAutoFit/>
          </a:bodyPr>
          <a:lstStyle/>
          <a:p>
            <a:pPr algn="l"/>
            <a:r>
              <a:rPr sz="3000" b="0" i="0" u="none">
                <a:solidFill>
                  <a:srgbClr val="5BC0BE"/>
                </a:solidFill>
                <a:latin typeface="Poppins SemiBold"/>
              </a:rPr>
              <a:t>Objetivos Específicos</a:t>
            </a:r>
          </a:p>
        </p:txBody>
      </p:sp>
      <p:pic>
        <p:nvPicPr>
          <p:cNvPr id="25" name="Audio 24">
            <a:hlinkClick r:id="" action="ppaction://media"/>
            <a:extLst>
              <a:ext uri="{FF2B5EF4-FFF2-40B4-BE49-F238E27FC236}">
                <a16:creationId xmlns:a16="http://schemas.microsoft.com/office/drawing/2014/main" id="{A9D853E2-CC6C-8230-2122-F47F730961E9}"/>
              </a:ext>
            </a:extLst>
          </p:cNvPr>
          <p:cNvPicPr>
            <a:picLocks noChangeAspect="1"/>
          </p:cNvPicPr>
          <p:nvPr>
            <a:audioFile r:link="rId2"/>
            <p:extLst>
              <p:ext uri="{DAA4B4D4-6D71-4841-9C94-3DE7FCFB9230}">
                <p14:media xmlns:p14="http://schemas.microsoft.com/office/powerpoint/2010/main" r:embed="rId1"/>
              </p:ext>
            </p:extLst>
          </p:nvPr>
        </p:nvPicPr>
        <p:blipFill>
          <a:blip r:embed="rId12"/>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55487"/>
    </mc:Choice>
    <mc:Fallback>
      <p:transition spd="slow" advTm="55487"/>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5"/>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5"/>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6"/>
          <a:stretch>
            <a:fillRect/>
          </a:stretch>
        </p:blipFill>
        <p:spPr>
          <a:xfrm>
            <a:off x="571500" y="2229891"/>
            <a:ext cx="5286375" cy="3398341"/>
          </a:xfrm>
          <a:prstGeom prst="rect">
            <a:avLst/>
          </a:prstGeom>
        </p:spPr>
      </p:pic>
      <p:pic>
        <p:nvPicPr>
          <p:cNvPr id="4" name="Picture 3" descr="image.png"/>
          <p:cNvPicPr>
            <a:picLocks noChangeAspect="1"/>
          </p:cNvPicPr>
          <p:nvPr/>
        </p:nvPicPr>
        <p:blipFill>
          <a:blip r:embed="rId7"/>
          <a:stretch>
            <a:fillRect/>
          </a:stretch>
        </p:blipFill>
        <p:spPr>
          <a:xfrm>
            <a:off x="6334125" y="2229891"/>
            <a:ext cx="5286375" cy="3398341"/>
          </a:xfrm>
          <a:prstGeom prst="rect">
            <a:avLst/>
          </a:prstGeom>
        </p:spPr>
      </p:pic>
      <p:sp>
        <p:nvSpPr>
          <p:cNvPr id="5" name="Rectangle 4"/>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9391" y="2620416"/>
            <a:ext cx="4730591" cy="400050"/>
          </a:xfrm>
          <a:prstGeom prst="rect">
            <a:avLst/>
          </a:prstGeom>
          <a:noFill/>
        </p:spPr>
        <p:txBody>
          <a:bodyPr wrap="square" lIns="0" tIns="0" rIns="0" bIns="0" anchor="t">
            <a:spAutoFit/>
          </a:bodyPr>
          <a:lstStyle/>
          <a:p>
            <a:pPr algn="ctr"/>
            <a:r>
              <a:rPr sz="2100" b="0" i="0" u="none">
                <a:solidFill>
                  <a:srgbClr val="5BC0BE"/>
                </a:solidFill>
                <a:latin typeface="Poppins SemiBold"/>
              </a:rPr>
              <a:t>Alcances del Proyecto</a:t>
            </a:r>
          </a:p>
        </p:txBody>
      </p:sp>
      <p:sp>
        <p:nvSpPr>
          <p:cNvPr id="7" name="TextBox 6"/>
          <p:cNvSpPr txBox="1"/>
          <p:nvPr/>
        </p:nvSpPr>
        <p:spPr>
          <a:xfrm>
            <a:off x="962025" y="3163341"/>
            <a:ext cx="4505325" cy="54858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Implementación de un repositorio de control de versiones distribuido.</a:t>
            </a:r>
          </a:p>
        </p:txBody>
      </p:sp>
      <p:sp>
        <p:nvSpPr>
          <p:cNvPr id="8" name="TextBox 7"/>
          <p:cNvSpPr txBox="1"/>
          <p:nvPr/>
        </p:nvSpPr>
        <p:spPr>
          <a:xfrm>
            <a:off x="962025" y="3854797"/>
            <a:ext cx="4505325" cy="54858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Diseño del flujo en 4 etapas: Registro, Nombrado, Empaquetamiento y Despliegue.</a:t>
            </a:r>
          </a:p>
        </p:txBody>
      </p:sp>
      <p:sp>
        <p:nvSpPr>
          <p:cNvPr id="9" name="TextBox 8"/>
          <p:cNvSpPr txBox="1"/>
          <p:nvPr/>
        </p:nvSpPr>
        <p:spPr>
          <a:xfrm>
            <a:off x="962025" y="4546252"/>
            <a:ext cx="4505325" cy="54858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Automatización en entornos segregados garantizando reversión (rollback) segura.</a:t>
            </a:r>
          </a:p>
        </p:txBody>
      </p:sp>
      <p:sp>
        <p:nvSpPr>
          <p:cNvPr id="10" name="TextBox 9"/>
          <p:cNvSpPr txBox="1"/>
          <p:nvPr/>
        </p:nvSpPr>
        <p:spPr>
          <a:xfrm>
            <a:off x="6612016" y="2620416"/>
            <a:ext cx="4730591" cy="400050"/>
          </a:xfrm>
          <a:prstGeom prst="rect">
            <a:avLst/>
          </a:prstGeom>
          <a:noFill/>
        </p:spPr>
        <p:txBody>
          <a:bodyPr wrap="square" lIns="0" tIns="0" rIns="0" bIns="0" anchor="t">
            <a:spAutoFit/>
          </a:bodyPr>
          <a:lstStyle/>
          <a:p>
            <a:pPr algn="ctr"/>
            <a:r>
              <a:rPr sz="2100" b="0" i="0" u="none">
                <a:solidFill>
                  <a:srgbClr val="5BC0BE"/>
                </a:solidFill>
                <a:latin typeface="Poppins SemiBold"/>
              </a:rPr>
              <a:t>Limitaciones del Proyecto</a:t>
            </a:r>
          </a:p>
        </p:txBody>
      </p:sp>
      <p:sp>
        <p:nvSpPr>
          <p:cNvPr id="11" name="TextBox 10"/>
          <p:cNvSpPr txBox="1"/>
          <p:nvPr/>
        </p:nvSpPr>
        <p:spPr>
          <a:xfrm>
            <a:off x="6724650" y="3163341"/>
            <a:ext cx="4505325" cy="27429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Foco exclusivo en arquitectura DevOps/Configuración.</a:t>
            </a:r>
          </a:p>
        </p:txBody>
      </p:sp>
      <p:sp>
        <p:nvSpPr>
          <p:cNvPr id="12" name="TextBox 11"/>
          <p:cNvSpPr txBox="1"/>
          <p:nvPr/>
        </p:nvSpPr>
        <p:spPr>
          <a:xfrm>
            <a:off x="6724650" y="3580507"/>
            <a:ext cx="4505325" cy="54858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No se abarcará la reestructuración del modelo matemático de riesgo crediticio subyacente.</a:t>
            </a:r>
          </a:p>
        </p:txBody>
      </p:sp>
      <p:sp>
        <p:nvSpPr>
          <p:cNvPr id="13" name="TextBox 12"/>
          <p:cNvSpPr txBox="1"/>
          <p:nvPr/>
        </p:nvSpPr>
        <p:spPr>
          <a:xfrm>
            <a:off x="6724650" y="4271962"/>
            <a:ext cx="4505325" cy="54858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Los despliegues iniciales se realizarán sobre ambientes simulados.</a:t>
            </a:r>
          </a:p>
        </p:txBody>
      </p:sp>
      <p:sp>
        <p:nvSpPr>
          <p:cNvPr id="14" name="TextBox 13"/>
          <p:cNvSpPr txBox="1"/>
          <p:nvPr/>
        </p:nvSpPr>
        <p:spPr>
          <a:xfrm>
            <a:off x="571500" y="619125"/>
            <a:ext cx="11601450" cy="571500"/>
          </a:xfrm>
          <a:prstGeom prst="rect">
            <a:avLst/>
          </a:prstGeom>
          <a:noFill/>
        </p:spPr>
        <p:txBody>
          <a:bodyPr wrap="square" lIns="0" tIns="0" rIns="0" bIns="0" anchor="t">
            <a:spAutoFit/>
          </a:bodyPr>
          <a:lstStyle/>
          <a:p>
            <a:pPr algn="l"/>
            <a:r>
              <a:rPr sz="3000" b="0" i="0" u="none">
                <a:solidFill>
                  <a:srgbClr val="5BC0BE"/>
                </a:solidFill>
                <a:latin typeface="Poppins SemiBold"/>
              </a:rPr>
              <a:t>Alcances y Limitaciones</a:t>
            </a:r>
          </a:p>
        </p:txBody>
      </p:sp>
      <p:pic>
        <p:nvPicPr>
          <p:cNvPr id="18" name="Audio 17">
            <a:hlinkClick r:id="" action="ppaction://media"/>
            <a:extLst>
              <a:ext uri="{FF2B5EF4-FFF2-40B4-BE49-F238E27FC236}">
                <a16:creationId xmlns:a16="http://schemas.microsoft.com/office/drawing/2014/main" id="{957FADB6-5FBD-A280-90BD-9FF29F949806}"/>
              </a:ext>
            </a:extLst>
          </p:cNvPr>
          <p:cNvPicPr>
            <a:picLocks noChangeAspect="1"/>
          </p:cNvPicPr>
          <p:nvPr>
            <a:audioFile r:link="rId2"/>
            <p:extLst>
              <p:ext uri="{DAA4B4D4-6D71-4841-9C94-3DE7FCFB9230}">
                <p14:media xmlns:p14="http://schemas.microsoft.com/office/powerpoint/2010/main" r:embed="rId1"/>
              </p:ext>
            </p:extLst>
          </p:nvPr>
        </p:nvPicPr>
        <p:blipFill>
          <a:blip r:embed="rId8"/>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63822"/>
    </mc:Choice>
    <mc:Fallback>
      <p:transition spd="slow" advTm="63822"/>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sp>
        <p:nvSpPr>
          <p:cNvPr id="3" name="Rectangle 2"/>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71500" y="619125"/>
            <a:ext cx="5550693" cy="571500"/>
          </a:xfrm>
          <a:prstGeom prst="rect">
            <a:avLst/>
          </a:prstGeom>
          <a:noFill/>
        </p:spPr>
        <p:txBody>
          <a:bodyPr wrap="square" lIns="0" tIns="0" rIns="0" bIns="0" anchor="t">
            <a:spAutoFit/>
          </a:bodyPr>
          <a:lstStyle/>
          <a:p>
            <a:pPr algn="l"/>
            <a:r>
              <a:rPr sz="3000" b="0" i="0" u="none">
                <a:solidFill>
                  <a:srgbClr val="5BC0BE"/>
                </a:solidFill>
                <a:latin typeface="Poppins SemiBold"/>
              </a:rPr>
              <a:t>Marco Teórico</a:t>
            </a:r>
          </a:p>
        </p:txBody>
      </p:sp>
      <p:pic>
        <p:nvPicPr>
          <p:cNvPr id="5" name="Picture 4" descr="image.png"/>
          <p:cNvPicPr>
            <a:picLocks noChangeAspect="1"/>
          </p:cNvPicPr>
          <p:nvPr/>
        </p:nvPicPr>
        <p:blipFill>
          <a:blip r:embed="rId6"/>
          <a:stretch>
            <a:fillRect/>
          </a:stretch>
        </p:blipFill>
        <p:spPr>
          <a:xfrm>
            <a:off x="6334125" y="47625"/>
            <a:ext cx="5857875" cy="6858000"/>
          </a:xfrm>
          <a:prstGeom prst="rect">
            <a:avLst/>
          </a:prstGeom>
        </p:spPr>
      </p:pic>
      <p:sp>
        <p:nvSpPr>
          <p:cNvPr id="6" name="TextBox 5"/>
          <p:cNvSpPr txBox="1"/>
          <p:nvPr/>
        </p:nvSpPr>
        <p:spPr>
          <a:xfrm>
            <a:off x="571500" y="2348954"/>
            <a:ext cx="5550693" cy="400050"/>
          </a:xfrm>
          <a:prstGeom prst="rect">
            <a:avLst/>
          </a:prstGeom>
          <a:noFill/>
        </p:spPr>
        <p:txBody>
          <a:bodyPr wrap="square" lIns="0" tIns="0" rIns="0" bIns="0" anchor="t">
            <a:spAutoFit/>
          </a:bodyPr>
          <a:lstStyle/>
          <a:p>
            <a:pPr algn="l"/>
            <a:r>
              <a:rPr sz="2100" b="0" i="0" u="none">
                <a:solidFill>
                  <a:srgbClr val="5BC0BE"/>
                </a:solidFill>
                <a:latin typeface="Poppins SemiBold"/>
              </a:rPr>
              <a:t>Git (DVCS)</a:t>
            </a:r>
          </a:p>
        </p:txBody>
      </p:sp>
      <p:sp>
        <p:nvSpPr>
          <p:cNvPr id="7" name="TextBox 6"/>
          <p:cNvSpPr txBox="1"/>
          <p:nvPr/>
        </p:nvSpPr>
        <p:spPr>
          <a:xfrm>
            <a:off x="571500" y="2891879"/>
            <a:ext cx="5286375" cy="82287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Permite copias locales autónomas y maneja estados estructurados (committed, modified, staged). Brinda alta flexibilidad para fusionar flujos y aislar el trabajo en equipo.</a:t>
            </a:r>
          </a:p>
        </p:txBody>
      </p:sp>
      <p:sp>
        <p:nvSpPr>
          <p:cNvPr id="8" name="TextBox 7"/>
          <p:cNvSpPr txBox="1"/>
          <p:nvPr/>
        </p:nvSpPr>
        <p:spPr>
          <a:xfrm>
            <a:off x="571500" y="4000500"/>
            <a:ext cx="5550693" cy="400050"/>
          </a:xfrm>
          <a:prstGeom prst="rect">
            <a:avLst/>
          </a:prstGeom>
          <a:noFill/>
        </p:spPr>
        <p:txBody>
          <a:bodyPr wrap="square" lIns="0" tIns="0" rIns="0" bIns="0" anchor="t">
            <a:spAutoFit/>
          </a:bodyPr>
          <a:lstStyle/>
          <a:p>
            <a:pPr algn="l"/>
            <a:r>
              <a:rPr sz="2100" b="0" i="0" u="none">
                <a:solidFill>
                  <a:srgbClr val="5BC0BE"/>
                </a:solidFill>
                <a:latin typeface="Poppins SemiBold"/>
              </a:rPr>
              <a:t>Automatización (CD)</a:t>
            </a:r>
          </a:p>
        </p:txBody>
      </p:sp>
      <p:sp>
        <p:nvSpPr>
          <p:cNvPr id="9" name="TextBox 8"/>
          <p:cNvSpPr txBox="1"/>
          <p:nvPr/>
        </p:nvSpPr>
        <p:spPr>
          <a:xfrm>
            <a:off x="571500" y="4543425"/>
            <a:ext cx="5286375" cy="82287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El despliegue continuo automatiza la publicación del software en los ambientes de destino, extrayendo paquetes desde bibliotecas centralizadas para una ejecución totalmente predecible.</a:t>
            </a:r>
          </a:p>
        </p:txBody>
      </p:sp>
      <p:pic>
        <p:nvPicPr>
          <p:cNvPr id="17" name="Audio 16">
            <a:hlinkClick r:id="" action="ppaction://media"/>
            <a:extLst>
              <a:ext uri="{FF2B5EF4-FFF2-40B4-BE49-F238E27FC236}">
                <a16:creationId xmlns:a16="http://schemas.microsoft.com/office/drawing/2014/main" id="{0DFAD94F-384D-95D2-653B-5FE23526767C}"/>
              </a:ext>
            </a:extLst>
          </p:cNvPr>
          <p:cNvPicPr>
            <a:picLocks noChangeAspect="1"/>
          </p:cNvPicPr>
          <p:nvPr>
            <a:audioFile r:link="rId2"/>
            <p:extLst>
              <p:ext uri="{DAA4B4D4-6D71-4841-9C94-3DE7FCFB9230}">
                <p14:media xmlns:p14="http://schemas.microsoft.com/office/powerpoint/2010/main" r:embed="rId1"/>
              </p:ext>
            </p:extLst>
          </p:nvPr>
        </p:nvPicPr>
        <p:blipFill>
          <a:blip r:embed="rId7"/>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56839"/>
    </mc:Choice>
    <mc:Fallback>
      <p:transition spd="slow" advTm="56839"/>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6"/>
          <a:stretch>
            <a:fillRect/>
          </a:stretch>
        </p:blipFill>
        <p:spPr>
          <a:xfrm>
            <a:off x="1547812" y="2262187"/>
            <a:ext cx="3333750" cy="3333750"/>
          </a:xfrm>
          <a:prstGeom prst="rect">
            <a:avLst/>
          </a:prstGeom>
        </p:spPr>
      </p:pic>
      <p:sp>
        <p:nvSpPr>
          <p:cNvPr id="4" name="Rectangle 3"/>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34125" y="2619375"/>
            <a:ext cx="5550693" cy="400050"/>
          </a:xfrm>
          <a:prstGeom prst="rect">
            <a:avLst/>
          </a:prstGeom>
          <a:noFill/>
        </p:spPr>
        <p:txBody>
          <a:bodyPr wrap="square" lIns="0" tIns="0" rIns="0" bIns="0" anchor="t">
            <a:spAutoFit/>
          </a:bodyPr>
          <a:lstStyle/>
          <a:p>
            <a:pPr algn="l"/>
            <a:r>
              <a:rPr sz="2100" b="0" i="0" u="none">
                <a:solidFill>
                  <a:srgbClr val="5BC0BE"/>
                </a:solidFill>
                <a:latin typeface="Poppins SemiBold"/>
              </a:rPr>
              <a:t>Evidencias de Control de Versiones</a:t>
            </a:r>
          </a:p>
        </p:txBody>
      </p:sp>
      <p:pic>
        <p:nvPicPr>
          <p:cNvPr id="6" name="Picture 5" descr="image.png"/>
          <p:cNvPicPr>
            <a:picLocks noChangeAspect="1"/>
          </p:cNvPicPr>
          <p:nvPr/>
        </p:nvPicPr>
        <p:blipFill>
          <a:blip r:embed="rId7"/>
          <a:stretch>
            <a:fillRect/>
          </a:stretch>
        </p:blipFill>
        <p:spPr>
          <a:xfrm>
            <a:off x="1585912" y="2300287"/>
            <a:ext cx="3257550" cy="3257550"/>
          </a:xfrm>
          <a:prstGeom prst="rect">
            <a:avLst/>
          </a:prstGeom>
        </p:spPr>
      </p:pic>
      <p:sp>
        <p:nvSpPr>
          <p:cNvPr id="7" name="TextBox 6"/>
          <p:cNvSpPr txBox="1"/>
          <p:nvPr/>
        </p:nvSpPr>
        <p:spPr>
          <a:xfrm>
            <a:off x="6619875" y="3209925"/>
            <a:ext cx="5000625" cy="283815"/>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Repositorio Inicializado Localmente (git init).</a:t>
            </a:r>
          </a:p>
        </p:txBody>
      </p:sp>
      <p:sp>
        <p:nvSpPr>
          <p:cNvPr id="8" name="TextBox 7"/>
          <p:cNvSpPr txBox="1"/>
          <p:nvPr/>
        </p:nvSpPr>
        <p:spPr>
          <a:xfrm>
            <a:off x="6619875" y="3636615"/>
            <a:ext cx="5000625" cy="283815"/>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Conexión Remota Establecida (git remote add origin).</a:t>
            </a:r>
          </a:p>
        </p:txBody>
      </p:sp>
      <p:sp>
        <p:nvSpPr>
          <p:cNvPr id="9" name="TextBox 8"/>
          <p:cNvSpPr txBox="1"/>
          <p:nvPr/>
        </p:nvSpPr>
        <p:spPr>
          <a:xfrm>
            <a:off x="6619875" y="4063305"/>
            <a:ext cx="5000625" cy="27429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Primer Commit con la estructura base del sistema.</a:t>
            </a:r>
          </a:p>
        </p:txBody>
      </p:sp>
      <p:sp>
        <p:nvSpPr>
          <p:cNvPr id="10" name="TextBox 9"/>
          <p:cNvSpPr txBox="1"/>
          <p:nvPr/>
        </p:nvSpPr>
        <p:spPr>
          <a:xfrm>
            <a:off x="6619875" y="4480470"/>
            <a:ext cx="5000625" cy="567630"/>
          </a:xfrm>
          <a:prstGeom prst="rect">
            <a:avLst/>
          </a:prstGeom>
          <a:noFill/>
        </p:spPr>
        <p:txBody>
          <a:bodyPr wrap="square" lIns="0" tIns="0" rIns="0" bIns="0" anchor="t">
            <a:spAutoFit/>
          </a:bodyPr>
          <a:lstStyle/>
          <a:p>
            <a:pPr algn="l">
              <a:lnSpc>
                <a:spcPts val="2160"/>
              </a:lnSpc>
            </a:pPr>
            <a:r>
              <a:rPr sz="1350" b="0" i="0" u="none">
                <a:solidFill>
                  <a:srgbClr val="D1D5DB"/>
                </a:solidFill>
                <a:latin typeface="Lato"/>
              </a:rPr>
              <a:t>Sincronización Exitosa con GitHub (git push -u origin main).</a:t>
            </a:r>
          </a:p>
        </p:txBody>
      </p:sp>
      <p:pic>
        <p:nvPicPr>
          <p:cNvPr id="11" name="Picture 10" descr="image.png"/>
          <p:cNvPicPr>
            <a:picLocks noChangeAspect="1"/>
          </p:cNvPicPr>
          <p:nvPr/>
        </p:nvPicPr>
        <p:blipFill>
          <a:blip r:embed="rId8"/>
          <a:stretch>
            <a:fillRect/>
          </a:stretch>
        </p:blipFill>
        <p:spPr>
          <a:xfrm>
            <a:off x="6619875" y="3262312"/>
            <a:ext cx="152400" cy="180975"/>
          </a:xfrm>
          <a:prstGeom prst="rect">
            <a:avLst/>
          </a:prstGeom>
        </p:spPr>
      </p:pic>
      <p:pic>
        <p:nvPicPr>
          <p:cNvPr id="12" name="Picture 11" descr="image.png"/>
          <p:cNvPicPr>
            <a:picLocks noChangeAspect="1"/>
          </p:cNvPicPr>
          <p:nvPr/>
        </p:nvPicPr>
        <p:blipFill>
          <a:blip r:embed="rId8"/>
          <a:stretch>
            <a:fillRect/>
          </a:stretch>
        </p:blipFill>
        <p:spPr>
          <a:xfrm>
            <a:off x="6619875" y="3689002"/>
            <a:ext cx="152400" cy="180975"/>
          </a:xfrm>
          <a:prstGeom prst="rect">
            <a:avLst/>
          </a:prstGeom>
        </p:spPr>
      </p:pic>
      <p:pic>
        <p:nvPicPr>
          <p:cNvPr id="13" name="Picture 12" descr="image.png"/>
          <p:cNvPicPr>
            <a:picLocks noChangeAspect="1"/>
          </p:cNvPicPr>
          <p:nvPr/>
        </p:nvPicPr>
        <p:blipFill>
          <a:blip r:embed="rId8"/>
          <a:stretch>
            <a:fillRect/>
          </a:stretch>
        </p:blipFill>
        <p:spPr>
          <a:xfrm>
            <a:off x="6619875" y="4115692"/>
            <a:ext cx="152400" cy="180975"/>
          </a:xfrm>
          <a:prstGeom prst="rect">
            <a:avLst/>
          </a:prstGeom>
        </p:spPr>
      </p:pic>
      <p:sp>
        <p:nvSpPr>
          <p:cNvPr id="14" name="TextBox 13"/>
          <p:cNvSpPr txBox="1"/>
          <p:nvPr/>
        </p:nvSpPr>
        <p:spPr>
          <a:xfrm>
            <a:off x="571500" y="619125"/>
            <a:ext cx="11601450" cy="571500"/>
          </a:xfrm>
          <a:prstGeom prst="rect">
            <a:avLst/>
          </a:prstGeom>
          <a:noFill/>
        </p:spPr>
        <p:txBody>
          <a:bodyPr wrap="square" lIns="0" tIns="0" rIns="0" bIns="0" anchor="t">
            <a:spAutoFit/>
          </a:bodyPr>
          <a:lstStyle/>
          <a:p>
            <a:pPr algn="l"/>
            <a:r>
              <a:rPr sz="3000" b="0" i="0" u="none">
                <a:solidFill>
                  <a:srgbClr val="5BC0BE"/>
                </a:solidFill>
                <a:latin typeface="Poppins SemiBold"/>
              </a:rPr>
              <a:t>Avance: Inicialización del Proyecto</a:t>
            </a:r>
          </a:p>
        </p:txBody>
      </p:sp>
      <p:pic>
        <p:nvPicPr>
          <p:cNvPr id="15" name="Picture 14" descr="image.png"/>
          <p:cNvPicPr>
            <a:picLocks noChangeAspect="1"/>
          </p:cNvPicPr>
          <p:nvPr/>
        </p:nvPicPr>
        <p:blipFill>
          <a:blip r:embed="rId9"/>
          <a:stretch>
            <a:fillRect/>
          </a:stretch>
        </p:blipFill>
        <p:spPr>
          <a:xfrm>
            <a:off x="6334125" y="3228975"/>
            <a:ext cx="104775" cy="180975"/>
          </a:xfrm>
          <a:prstGeom prst="rect">
            <a:avLst/>
          </a:prstGeom>
        </p:spPr>
      </p:pic>
      <p:pic>
        <p:nvPicPr>
          <p:cNvPr id="16" name="Picture 15" descr="image.png"/>
          <p:cNvPicPr>
            <a:picLocks noChangeAspect="1"/>
          </p:cNvPicPr>
          <p:nvPr/>
        </p:nvPicPr>
        <p:blipFill>
          <a:blip r:embed="rId9"/>
          <a:stretch>
            <a:fillRect/>
          </a:stretch>
        </p:blipFill>
        <p:spPr>
          <a:xfrm>
            <a:off x="6334125" y="3655665"/>
            <a:ext cx="104775" cy="180975"/>
          </a:xfrm>
          <a:prstGeom prst="rect">
            <a:avLst/>
          </a:prstGeom>
        </p:spPr>
      </p:pic>
      <p:pic>
        <p:nvPicPr>
          <p:cNvPr id="17" name="Picture 16" descr="image.png"/>
          <p:cNvPicPr>
            <a:picLocks noChangeAspect="1"/>
          </p:cNvPicPr>
          <p:nvPr/>
        </p:nvPicPr>
        <p:blipFill>
          <a:blip r:embed="rId9"/>
          <a:stretch>
            <a:fillRect/>
          </a:stretch>
        </p:blipFill>
        <p:spPr>
          <a:xfrm>
            <a:off x="6334125" y="4082355"/>
            <a:ext cx="104775" cy="180975"/>
          </a:xfrm>
          <a:prstGeom prst="rect">
            <a:avLst/>
          </a:prstGeom>
        </p:spPr>
      </p:pic>
      <p:pic>
        <p:nvPicPr>
          <p:cNvPr id="18" name="Picture 17" descr="image.png"/>
          <p:cNvPicPr>
            <a:picLocks noChangeAspect="1"/>
          </p:cNvPicPr>
          <p:nvPr/>
        </p:nvPicPr>
        <p:blipFill>
          <a:blip r:embed="rId9"/>
          <a:stretch>
            <a:fillRect/>
          </a:stretch>
        </p:blipFill>
        <p:spPr>
          <a:xfrm>
            <a:off x="6334125" y="4499520"/>
            <a:ext cx="104775" cy="180975"/>
          </a:xfrm>
          <a:prstGeom prst="rect">
            <a:avLst/>
          </a:prstGeom>
        </p:spPr>
      </p:pic>
      <p:pic>
        <p:nvPicPr>
          <p:cNvPr id="19" name="Picture 18" descr="image.png"/>
          <p:cNvPicPr>
            <a:picLocks noChangeAspect="1"/>
          </p:cNvPicPr>
          <p:nvPr/>
        </p:nvPicPr>
        <p:blipFill>
          <a:blip r:embed="rId8"/>
          <a:stretch>
            <a:fillRect/>
          </a:stretch>
        </p:blipFill>
        <p:spPr>
          <a:xfrm>
            <a:off x="6619875" y="4532858"/>
            <a:ext cx="152400" cy="180975"/>
          </a:xfrm>
          <a:prstGeom prst="rect">
            <a:avLst/>
          </a:prstGeom>
        </p:spPr>
      </p:pic>
      <p:pic>
        <p:nvPicPr>
          <p:cNvPr id="30" name="Audio 29">
            <a:hlinkClick r:id="" action="ppaction://media"/>
            <a:extLst>
              <a:ext uri="{FF2B5EF4-FFF2-40B4-BE49-F238E27FC236}">
                <a16:creationId xmlns:a16="http://schemas.microsoft.com/office/drawing/2014/main" id="{5EB082C4-0F7A-2EB0-51D5-171C60AB5844}"/>
              </a:ext>
            </a:extLst>
          </p:cNvPr>
          <p:cNvPicPr>
            <a:picLocks noChangeAspect="1"/>
          </p:cNvPicPr>
          <p:nvPr>
            <a:audioFile r:link="rId2"/>
            <p:extLst>
              <p:ext uri="{DAA4B4D4-6D71-4841-9C94-3DE7FCFB9230}">
                <p14:media xmlns:p14="http://schemas.microsoft.com/office/powerpoint/2010/main" r:embed="rId1"/>
              </p:ext>
            </p:extLst>
          </p:nvPr>
        </p:nvPicPr>
        <p:blipFill>
          <a:blip r:embed="rId10"/>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34139"/>
    </mc:Choice>
    <mc:Fallback>
      <p:transition spd="slow" advTm="34139"/>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30"/>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C254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0" y="0"/>
            <a:ext cx="12192000" cy="6858000"/>
          </a:xfrm>
          <a:prstGeom prst="rect">
            <a:avLst/>
          </a:prstGeom>
        </p:spPr>
      </p:pic>
      <p:sp>
        <p:nvSpPr>
          <p:cNvPr id="3" name="Rectangle 2"/>
          <p:cNvSpPr/>
          <p:nvPr/>
        </p:nvSpPr>
        <p:spPr>
          <a:xfrm>
            <a:off x="0" y="0"/>
            <a:ext cx="12192000" cy="47625"/>
          </a:xfrm>
          <a:prstGeom prst="rect">
            <a:avLst/>
          </a:prstGeom>
          <a:solidFill>
            <a:srgbClr val="5BC0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95275" y="2158454"/>
            <a:ext cx="11601450" cy="1143000"/>
          </a:xfrm>
          <a:prstGeom prst="rect">
            <a:avLst/>
          </a:prstGeom>
          <a:noFill/>
        </p:spPr>
        <p:txBody>
          <a:bodyPr wrap="square" lIns="0" tIns="0" rIns="0" bIns="0" anchor="t">
            <a:spAutoFit/>
          </a:bodyPr>
          <a:lstStyle/>
          <a:p>
            <a:pPr algn="ctr"/>
            <a:r>
              <a:rPr sz="6000" b="1" i="0" u="none">
                <a:solidFill>
                  <a:srgbClr val="5BC0BE"/>
                </a:solidFill>
                <a:latin typeface="Poppins"/>
              </a:rPr>
              <a:t>Próximos Pasos</a:t>
            </a:r>
          </a:p>
        </p:txBody>
      </p:sp>
      <p:sp>
        <p:nvSpPr>
          <p:cNvPr id="5" name="TextBox 4"/>
          <p:cNvSpPr txBox="1"/>
          <p:nvPr/>
        </p:nvSpPr>
        <p:spPr>
          <a:xfrm>
            <a:off x="571500" y="3491954"/>
            <a:ext cx="11049000" cy="365670"/>
          </a:xfrm>
          <a:prstGeom prst="rect">
            <a:avLst/>
          </a:prstGeom>
          <a:noFill/>
        </p:spPr>
        <p:txBody>
          <a:bodyPr wrap="square" lIns="0" tIns="0" rIns="0" bIns="0" anchor="t">
            <a:spAutoFit/>
          </a:bodyPr>
          <a:lstStyle/>
          <a:p>
            <a:pPr algn="ctr">
              <a:lnSpc>
                <a:spcPts val="2879"/>
              </a:lnSpc>
            </a:pPr>
            <a:r>
              <a:rPr sz="1800" b="0" i="0" u="none">
                <a:solidFill>
                  <a:srgbClr val="D1D5DB"/>
                </a:solidFill>
                <a:latin typeface="Lato"/>
              </a:rPr>
              <a:t>Diseño de estrategia de ramificación (GitFlow) y configuración de Tablero Kanban.</a:t>
            </a:r>
          </a:p>
        </p:txBody>
      </p:sp>
      <p:sp>
        <p:nvSpPr>
          <p:cNvPr id="6" name="TextBox 5"/>
          <p:cNvSpPr txBox="1"/>
          <p:nvPr/>
        </p:nvSpPr>
        <p:spPr>
          <a:xfrm>
            <a:off x="571500" y="4238625"/>
            <a:ext cx="11049000" cy="365670"/>
          </a:xfrm>
          <a:prstGeom prst="rect">
            <a:avLst/>
          </a:prstGeom>
          <a:noFill/>
        </p:spPr>
        <p:txBody>
          <a:bodyPr wrap="square" lIns="0" tIns="0" rIns="0" bIns="0" anchor="t">
            <a:spAutoFit/>
          </a:bodyPr>
          <a:lstStyle/>
          <a:p>
            <a:pPr algn="ctr">
              <a:lnSpc>
                <a:spcPts val="2879"/>
              </a:lnSpc>
            </a:pPr>
            <a:r>
              <a:rPr sz="1800" b="1" i="0" u="none">
                <a:solidFill>
                  <a:srgbClr val="5BC0BE"/>
                </a:solidFill>
                <a:latin typeface="Lato"/>
              </a:rPr>
              <a:t>¡Muchas Gracias!</a:t>
            </a:r>
          </a:p>
        </p:txBody>
      </p:sp>
      <p:pic>
        <p:nvPicPr>
          <p:cNvPr id="9" name="Audio 8">
            <a:hlinkClick r:id="" action="ppaction://media"/>
            <a:extLst>
              <a:ext uri="{FF2B5EF4-FFF2-40B4-BE49-F238E27FC236}">
                <a16:creationId xmlns:a16="http://schemas.microsoft.com/office/drawing/2014/main" id="{C2EB1AE5-6A02-ACA3-3AD8-7BB964ECF867}"/>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61075" t="-161075" r="-161075" b="-161075"/>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15530"/>
    </mc:Choice>
    <mc:Fallback>
      <p:transition spd="slow" advTm="15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9"/>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TotalTime>
  <Words>1124</Words>
  <Application>Microsoft Office PowerPoint</Application>
  <PresentationFormat>Panorámica</PresentationFormat>
  <Paragraphs>72</Paragraphs>
  <Slides>9</Slides>
  <Notes>9</Notes>
  <HiddenSlides>0</HiddenSlides>
  <MMClips>9</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9</vt:i4>
      </vt:variant>
    </vt:vector>
  </HeadingPairs>
  <TitlesOfParts>
    <vt:vector size="16" baseType="lpstr">
      <vt:lpstr>Aptos</vt:lpstr>
      <vt:lpstr>Arial</vt:lpstr>
      <vt:lpstr>Calibri</vt:lpstr>
      <vt:lpstr>Lato</vt:lpstr>
      <vt:lpstr>Poppins</vt:lpstr>
      <vt:lpstr>Poppins SemiBold</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ALUMNO - JOSE LUIS MANAYAY AYACHI</cp:lastModifiedBy>
  <cp:revision>4</cp:revision>
  <dcterms:created xsi:type="dcterms:W3CDTF">2013-01-27T09:14:16Z</dcterms:created>
  <dcterms:modified xsi:type="dcterms:W3CDTF">2026-09-15T04:36:47Z</dcterms:modified>
  <cp:category/>
</cp:coreProperties>
</file>