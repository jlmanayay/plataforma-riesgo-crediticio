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56078" autoAdjust="0"/>
  </p:normalViewPr>
  <p:slideViewPr>
    <p:cSldViewPr snapToGrid="0" snapToObjects="1">
      <p:cViewPr varScale="1">
        <p:scale>
          <a:sx n="46" d="100"/>
          <a:sy n="46" d="100"/>
        </p:scale>
        <p:origin x="2069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062011-4E22-4923-8293-ECA292F9A465}" type="datetimeFigureOut">
              <a:rPr lang="es-PE" smtClean="0"/>
              <a:t>14/09/2026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AEA5BE-EAB5-4DF4-9980-0E933D8C961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75705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EA5BE-EAB5-4DF4-9980-0E933D8C961B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43359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EA5BE-EAB5-4DF4-9980-0E933D8C961B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650077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EA5BE-EAB5-4DF4-9980-0E933D8C961B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05040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EA5BE-EAB5-4DF4-9980-0E933D8C961B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104822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EA5BE-EAB5-4DF4-9980-0E933D8C961B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20445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EA5BE-EAB5-4DF4-9980-0E933D8C961B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145012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EA5BE-EAB5-4DF4-9980-0E933D8C961B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493726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EA5BE-EAB5-4DF4-9980-0E933D8C961B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088411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EA5BE-EAB5-4DF4-9980-0E933D8C961B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42225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pn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12" Type="http://schemas.openxmlformats.org/officeDocument/2006/relationships/image" Target="../media/image2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1.png"/><Relationship Id="rId10" Type="http://schemas.openxmlformats.org/officeDocument/2006/relationships/image" Target="../media/image10.pn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12" Type="http://schemas.openxmlformats.org/officeDocument/2006/relationships/image" Target="../media/image2.png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6.png"/><Relationship Id="rId11" Type="http://schemas.openxmlformats.org/officeDocument/2006/relationships/image" Target="../media/image14.png"/><Relationship Id="rId5" Type="http://schemas.openxmlformats.org/officeDocument/2006/relationships/image" Target="../media/image1.png"/><Relationship Id="rId10" Type="http://schemas.openxmlformats.org/officeDocument/2006/relationships/image" Target="../media/image13.pn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6.png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15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17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9.png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18.png"/><Relationship Id="rId5" Type="http://schemas.openxmlformats.org/officeDocument/2006/relationships/image" Target="../media/image1.png"/><Relationship Id="rId10" Type="http://schemas.openxmlformats.org/officeDocument/2006/relationships/image" Target="../media/image2.png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95437" y="1901279"/>
            <a:ext cx="9001125" cy="1362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362"/>
              </a:lnSpc>
            </a:pPr>
            <a:r>
              <a:rPr sz="4875" b="1" i="0" u="none">
                <a:solidFill>
                  <a:srgbClr val="FFFFFF"/>
                </a:solidFill>
                <a:latin typeface="Poppins"/>
              </a:rPr>
              <a:t>Plataforma de Evaluación y Riesgo Crediticio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453854"/>
            <a:ext cx="85725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9CA3AF"/>
                </a:solidFill>
                <a:latin typeface="Lato"/>
              </a:rPr>
              <a:t>Propuesta de Implementación de Gestión de Configuración y Versiones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50" y="4200525"/>
            <a:ext cx="8572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1" i="0" u="none">
                <a:solidFill>
                  <a:srgbClr val="5BC0BE"/>
                </a:solidFill>
                <a:latin typeface="Lato"/>
              </a:rPr>
              <a:t>Presentado por: José Luis Manayay Ayachi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9750" y="4617690"/>
            <a:ext cx="85725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 dirty="0" err="1">
                <a:solidFill>
                  <a:srgbClr val="9CA3AF"/>
                </a:solidFill>
                <a:latin typeface="Lato"/>
              </a:rPr>
              <a:t>FinanTech</a:t>
            </a:r>
            <a:r>
              <a:rPr sz="1200" b="0" i="0" u="none" dirty="0">
                <a:solidFill>
                  <a:srgbClr val="9CA3AF"/>
                </a:solidFill>
                <a:latin typeface="Lato"/>
              </a:rPr>
              <a:t> - 2026</a:t>
            </a:r>
          </a:p>
        </p:txBody>
      </p:sp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D4DDEA5B-42E8-86C8-4BB9-C7F0FAE607F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281"/>
    </mc:Choice>
    <mc:Fallback xmlns="">
      <p:transition spd="slow" advTm="232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4125" y="2119312"/>
            <a:ext cx="5286375" cy="3619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7250" y="2450901"/>
            <a:ext cx="50006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D1D5DB"/>
                </a:solidFill>
                <a:latin typeface="Lato"/>
              </a:rPr>
              <a:t>Acoplamiento:</a:t>
            </a:r>
            <a:r>
              <a:rPr sz="1350" b="0" i="0" u="none">
                <a:solidFill>
                  <a:srgbClr val="D1D5DB"/>
                </a:solidFill>
                <a:latin typeface="Lato"/>
              </a:rPr>
              <a:t> Los sistemas de riesgo se vinculan directamente al servidor físico (Desarrollo, QA, Producción).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3189982"/>
            <a:ext cx="50006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D1D5DB"/>
                </a:solidFill>
                <a:latin typeface="Lato"/>
              </a:rPr>
              <a:t>Opacidad:</a:t>
            </a:r>
            <a:r>
              <a:rPr sz="1350" b="0" i="0" u="none">
                <a:solidFill>
                  <a:srgbClr val="D1D5DB"/>
                </a:solidFill>
                <a:latin typeface="Lato"/>
              </a:rPr>
              <a:t> Falta de registros formales y líneas base entre los diferentes ambientes.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929062"/>
            <a:ext cx="50006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D1D5DB"/>
                </a:solidFill>
                <a:latin typeface="Lato"/>
              </a:rPr>
              <a:t>Sobretrabajo:</a:t>
            </a:r>
            <a:r>
              <a:rPr sz="1350" b="0" i="0" u="none">
                <a:solidFill>
                  <a:srgbClr val="D1D5DB"/>
                </a:solidFill>
                <a:latin typeface="Lato"/>
              </a:rPr>
              <a:t> La operación para el traspaso de versiones requiere la copia manual de archivos.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4668142"/>
            <a:ext cx="50006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D1D5DB"/>
                </a:solidFill>
                <a:latin typeface="Lato"/>
              </a:rPr>
              <a:t>Bloqueos:</a:t>
            </a:r>
            <a:r>
              <a:rPr sz="1350" b="0" i="0" u="none">
                <a:solidFill>
                  <a:srgbClr val="D1D5DB"/>
                </a:solidFill>
                <a:latin typeface="Lato"/>
              </a:rPr>
              <a:t> Imposibilidad de realizar desarrollo evolutivo en paralelo de manera segura.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3650" y="2128837"/>
            <a:ext cx="5267325" cy="3600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619125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5BC0BE"/>
                </a:solidFill>
                <a:latin typeface="Poppins SemiBold"/>
              </a:rPr>
              <a:t>Contexto y Problemática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469951"/>
            <a:ext cx="104775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209032"/>
            <a:ext cx="104775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948112"/>
            <a:ext cx="104775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687192"/>
            <a:ext cx="104775" cy="180975"/>
          </a:xfrm>
          <a:prstGeom prst="rect">
            <a:avLst/>
          </a:prstGeom>
        </p:spPr>
      </p:pic>
      <p:pic>
        <p:nvPicPr>
          <p:cNvPr id="20" name="Audio 19">
            <a:hlinkClick r:id="" action="ppaction://media"/>
            <a:extLst>
              <a:ext uri="{FF2B5EF4-FFF2-40B4-BE49-F238E27FC236}">
                <a16:creationId xmlns:a16="http://schemas.microsoft.com/office/drawing/2014/main" id="{A5E73D0C-C05F-BB4A-079B-E81BD2E60B2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220"/>
    </mc:Choice>
    <mc:Fallback xmlns="">
      <p:transition spd="slow" advTm="312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213669"/>
            <a:ext cx="3429000" cy="34307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500" y="2213669"/>
            <a:ext cx="3429000" cy="34307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0" y="2213669"/>
            <a:ext cx="3429000" cy="343078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0840" y="3470969"/>
            <a:ext cx="255031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5BC0BE"/>
                </a:solidFill>
                <a:latin typeface="Poppins SemiBold"/>
              </a:rPr>
              <a:t>Incertidumbre QA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013894"/>
            <a:ext cx="28384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D1D5DB"/>
                </a:solidFill>
                <a:latin typeface="Lato"/>
              </a:rPr>
              <a:t>La dependencia directa entre componentes de software y servidores afecta severamente la certificación de calidad.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5845" y="3470969"/>
            <a:ext cx="248031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5BC0BE"/>
                </a:solidFill>
                <a:latin typeface="Poppins SemiBold"/>
              </a:rPr>
              <a:t>Errores Manuales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6775" y="4013894"/>
            <a:ext cx="28384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D1D5DB"/>
                </a:solidFill>
                <a:latin typeface="Lato"/>
              </a:rPr>
              <a:t>La ausencia de una biblioteca centralizada y un empaquetado formal incrementa la tasa de errores en los despliegues.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00861" y="3470969"/>
            <a:ext cx="221027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5BC0BE"/>
                </a:solidFill>
                <a:latin typeface="Poppins SemiBold"/>
              </a:rPr>
              <a:t>Sin Paralelismo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6775" y="4013894"/>
            <a:ext cx="28384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D1D5DB"/>
                </a:solidFill>
                <a:latin typeface="Lato"/>
              </a:rPr>
              <a:t>La falta de estrategias de ramificación y aislamiento impide ejecutar múltiples actualizaciones en paralelo.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24062" y="2661344"/>
            <a:ext cx="523875" cy="523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4062" y="2661344"/>
            <a:ext cx="523875" cy="523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77400" y="2661344"/>
            <a:ext cx="457200" cy="5238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619125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5BC0BE"/>
                </a:solidFill>
                <a:latin typeface="Poppins SemiBold"/>
              </a:rPr>
              <a:t>Problemas Específicos</a:t>
            </a:r>
          </a:p>
        </p:txBody>
      </p:sp>
      <p:pic>
        <p:nvPicPr>
          <p:cNvPr id="20" name="Audio 19">
            <a:hlinkClick r:id="" action="ppaction://media"/>
            <a:extLst>
              <a:ext uri="{FF2B5EF4-FFF2-40B4-BE49-F238E27FC236}">
                <a16:creationId xmlns:a16="http://schemas.microsoft.com/office/drawing/2014/main" id="{0319FD27-3518-459A-98FC-BB7EAB1D17E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856"/>
    </mc:Choice>
    <mc:Fallback xmlns="">
      <p:transition spd="slow" advTm="458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524500" y="2356544"/>
            <a:ext cx="1143000" cy="47625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90674" y="2689919"/>
            <a:ext cx="5210651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500" b="1" i="0" u="none">
                <a:solidFill>
                  <a:srgbClr val="FFFFFF"/>
                </a:solidFill>
                <a:latin typeface="Poppins"/>
              </a:rPr>
              <a:t>Objetivo General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737669"/>
            <a:ext cx="7620000" cy="1097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9CA3AF"/>
                </a:solidFill>
                <a:latin typeface="Lato"/>
              </a:rPr>
              <a:t>Diseñar e implementar un proceso de gestión de la configuración que permita el seguimiento de componentes, desacoplando las versiones de los servidores físicos y automatizando los despliegues.</a:t>
            </a:r>
          </a:p>
        </p:txBody>
      </p:sp>
      <p:pic>
        <p:nvPicPr>
          <p:cNvPr id="13" name="Audio 12">
            <a:hlinkClick r:id="" action="ppaction://media"/>
            <a:extLst>
              <a:ext uri="{FF2B5EF4-FFF2-40B4-BE49-F238E27FC236}">
                <a16:creationId xmlns:a16="http://schemas.microsoft.com/office/drawing/2014/main" id="{02DBCACF-22CB-5A51-2138-5555C025A21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383"/>
    </mc:Choice>
    <mc:Fallback xmlns="">
      <p:transition spd="slow" advTm="273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213669"/>
            <a:ext cx="3429000" cy="34307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500" y="2213669"/>
            <a:ext cx="3429000" cy="34307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0" y="2213669"/>
            <a:ext cx="3429000" cy="343078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45882" y="3470969"/>
            <a:ext cx="188023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5BC0BE"/>
                </a:solidFill>
                <a:latin typeface="Poppins SemiBold"/>
              </a:rPr>
              <a:t>Ciclo de Vida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013894"/>
            <a:ext cx="28384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D1D5DB"/>
                </a:solidFill>
                <a:latin typeface="Lato"/>
              </a:rPr>
              <a:t>Estandarizar y sistematizar las actividades de registrar, nombrar y empaquetar los cambios (ej. v1.0-rc1, v1.0).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15840" y="3470969"/>
            <a:ext cx="256032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5BC0BE"/>
                </a:solidFill>
                <a:latin typeface="Poppins SemiBold"/>
              </a:rPr>
              <a:t>Desacoplamiento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6775" y="4013894"/>
            <a:ext cx="28384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D1D5DB"/>
                </a:solidFill>
                <a:latin typeface="Lato"/>
              </a:rPr>
              <a:t>Independizar el software de los servidores mediante la generación de una biblioteca de paquetes ejecutables.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5856" y="3470969"/>
            <a:ext cx="23002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5BC0BE"/>
                </a:solidFill>
                <a:latin typeface="Poppins SemiBold"/>
              </a:rPr>
              <a:t>Automatización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6775" y="4013894"/>
            <a:ext cx="28384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D1D5DB"/>
                </a:solidFill>
                <a:latin typeface="Lato"/>
              </a:rPr>
              <a:t>Desplegar en servidores productivos, de QA y de desarrollo sin depender de la copia manual de archivos.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24062" y="2661344"/>
            <a:ext cx="523875" cy="523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00725" y="2661344"/>
            <a:ext cx="590550" cy="523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44062" y="2661344"/>
            <a:ext cx="523875" cy="5238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619125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5BC0BE"/>
                </a:solidFill>
                <a:latin typeface="Poppins SemiBold"/>
              </a:rPr>
              <a:t>Objetivos Específicos</a:t>
            </a:r>
          </a:p>
        </p:txBody>
      </p:sp>
      <p:pic>
        <p:nvPicPr>
          <p:cNvPr id="25" name="Audio 24">
            <a:hlinkClick r:id="" action="ppaction://media"/>
            <a:extLst>
              <a:ext uri="{FF2B5EF4-FFF2-40B4-BE49-F238E27FC236}">
                <a16:creationId xmlns:a16="http://schemas.microsoft.com/office/drawing/2014/main" id="{A9D853E2-CC6C-8230-2122-F47F730961E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487"/>
    </mc:Choice>
    <mc:Fallback xmlns="">
      <p:transition spd="slow" advTm="554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229891"/>
            <a:ext cx="5286375" cy="339834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4125" y="2229891"/>
            <a:ext cx="5286375" cy="339834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9391" y="2620416"/>
            <a:ext cx="4730591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5BC0BE"/>
                </a:solidFill>
                <a:latin typeface="Poppins SemiBold"/>
              </a:rPr>
              <a:t>Alcances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163341"/>
            <a:ext cx="45053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D1D5DB"/>
                </a:solidFill>
                <a:latin typeface="Lato"/>
              </a:rPr>
              <a:t>Implementación de un repositorio de control de versiones distribuido.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854797"/>
            <a:ext cx="45053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D1D5DB"/>
                </a:solidFill>
                <a:latin typeface="Lato"/>
              </a:rPr>
              <a:t>Diseño del flujo en 4 etapas: Registro, Nombrado, Empaquetamiento y Despliegue.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4546252"/>
            <a:ext cx="45053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D1D5DB"/>
                </a:solidFill>
                <a:latin typeface="Lato"/>
              </a:rPr>
              <a:t>Automatización en entornos segregados garantizando reversión (rollback) segura.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2016" y="2620416"/>
            <a:ext cx="4730591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5BC0BE"/>
                </a:solidFill>
                <a:latin typeface="Poppins SemiBold"/>
              </a:rPr>
              <a:t>Limitaciones del Proyecto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4650" y="3163341"/>
            <a:ext cx="450532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D1D5DB"/>
                </a:solidFill>
                <a:latin typeface="Lato"/>
              </a:rPr>
              <a:t>Foco exclusivo en arquitectura DevOps/Configuración.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4650" y="3580507"/>
            <a:ext cx="45053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D1D5DB"/>
                </a:solidFill>
                <a:latin typeface="Lato"/>
              </a:rPr>
              <a:t>No se abarcará la reestructuración del modelo matemático de riesgo crediticio subyacente.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4650" y="4271962"/>
            <a:ext cx="45053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D1D5DB"/>
                </a:solidFill>
                <a:latin typeface="Lato"/>
              </a:rPr>
              <a:t>Los despliegues iniciales se realizarán sobre ambientes simulados.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619125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5BC0BE"/>
                </a:solidFill>
                <a:latin typeface="Poppins SemiBold"/>
              </a:rPr>
              <a:t>Alcances y Limitaciones</a:t>
            </a:r>
          </a:p>
        </p:txBody>
      </p:sp>
      <p:pic>
        <p:nvPicPr>
          <p:cNvPr id="18" name="Audio 17">
            <a:hlinkClick r:id="" action="ppaction://media"/>
            <a:extLst>
              <a:ext uri="{FF2B5EF4-FFF2-40B4-BE49-F238E27FC236}">
                <a16:creationId xmlns:a16="http://schemas.microsoft.com/office/drawing/2014/main" id="{957FADB6-5FBD-A280-90BD-9FF29F94980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822"/>
    </mc:Choice>
    <mc:Fallback xmlns="">
      <p:transition spd="slow" advTm="638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1500" y="619125"/>
            <a:ext cx="5550693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5BC0BE"/>
                </a:solidFill>
                <a:latin typeface="Poppins SemiBold"/>
              </a:rPr>
              <a:t>Marco Teórico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4125" y="47625"/>
            <a:ext cx="585787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348954"/>
            <a:ext cx="555069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5BC0BE"/>
                </a:solidFill>
                <a:latin typeface="Poppins SemiBold"/>
              </a:rPr>
              <a:t>Git (DVCS)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891879"/>
            <a:ext cx="52863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D1D5DB"/>
                </a:solidFill>
                <a:latin typeface="Lato"/>
              </a:rPr>
              <a:t>Permite copias locales autónomas y maneja estados estructurados (committed, modified, staged). Brinda alta flexibilidad para fusionar flujos y aislar el trabajo en equipo.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000500"/>
            <a:ext cx="555069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5BC0BE"/>
                </a:solidFill>
                <a:latin typeface="Poppins SemiBold"/>
              </a:rPr>
              <a:t>Automatización (CD)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543425"/>
            <a:ext cx="52863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D1D5DB"/>
                </a:solidFill>
                <a:latin typeface="Lato"/>
              </a:rPr>
              <a:t>El despliegue continuo automatiza la publicación del software en los ambientes de destino, extrayendo paquetes desde bibliotecas centralizadas para una ejecución totalmente predecible.</a:t>
            </a:r>
          </a:p>
        </p:txBody>
      </p:sp>
      <p:pic>
        <p:nvPicPr>
          <p:cNvPr id="17" name="Audio 16">
            <a:hlinkClick r:id="" action="ppaction://media"/>
            <a:extLst>
              <a:ext uri="{FF2B5EF4-FFF2-40B4-BE49-F238E27FC236}">
                <a16:creationId xmlns:a16="http://schemas.microsoft.com/office/drawing/2014/main" id="{0DFAD94F-384D-95D2-653B-5FE23526767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839"/>
    </mc:Choice>
    <mc:Fallback xmlns="">
      <p:transition spd="slow" advTm="568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7812" y="2262187"/>
            <a:ext cx="3333750" cy="33337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34125" y="2619375"/>
            <a:ext cx="555069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5BC0BE"/>
                </a:solidFill>
                <a:latin typeface="Poppins SemiBold"/>
              </a:rPr>
              <a:t>Evidencias de Control de Versiones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5912" y="2300287"/>
            <a:ext cx="3257550" cy="3257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19875" y="3209925"/>
            <a:ext cx="5000625" cy="283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D1D5DB"/>
                </a:solidFill>
                <a:latin typeface="Lato"/>
              </a:rPr>
              <a:t>Repositorio Inicializado Localmente (git init).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9875" y="3636615"/>
            <a:ext cx="5000625" cy="283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D1D5DB"/>
                </a:solidFill>
                <a:latin typeface="Lato"/>
              </a:rPr>
              <a:t>Conexión Remota Establecida (git remote add origin).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9875" y="4063305"/>
            <a:ext cx="500062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D1D5DB"/>
                </a:solidFill>
                <a:latin typeface="Lato"/>
              </a:rPr>
              <a:t>Primer Commit con la estructura base del sistema.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9875" y="4480470"/>
            <a:ext cx="5000625" cy="567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D1D5DB"/>
                </a:solidFill>
                <a:latin typeface="Lato"/>
              </a:rPr>
              <a:t>Sincronización Exitosa con GitHub (git push -u origin main).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9875" y="3262312"/>
            <a:ext cx="15240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9875" y="3689002"/>
            <a:ext cx="15240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9875" y="4115692"/>
            <a:ext cx="152400" cy="1809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619125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5BC0BE"/>
                </a:solidFill>
                <a:latin typeface="Poppins SemiBold"/>
              </a:rPr>
              <a:t>Avance: Inicialización del Proyecto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4125" y="3228975"/>
            <a:ext cx="104775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4125" y="3655665"/>
            <a:ext cx="104775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4125" y="4082355"/>
            <a:ext cx="104775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4125" y="4499520"/>
            <a:ext cx="104775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9875" y="4532858"/>
            <a:ext cx="152400" cy="180975"/>
          </a:xfrm>
          <a:prstGeom prst="rect">
            <a:avLst/>
          </a:prstGeom>
        </p:spPr>
      </p:pic>
      <p:pic>
        <p:nvPicPr>
          <p:cNvPr id="30" name="Audio 29">
            <a:hlinkClick r:id="" action="ppaction://media"/>
            <a:extLst>
              <a:ext uri="{FF2B5EF4-FFF2-40B4-BE49-F238E27FC236}">
                <a16:creationId xmlns:a16="http://schemas.microsoft.com/office/drawing/2014/main" id="{5EB082C4-0F7A-2EB0-51D5-171C60AB584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139"/>
    </mc:Choice>
    <mc:Fallback xmlns="">
      <p:transition spd="slow" advTm="341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95275" y="2158454"/>
            <a:ext cx="1160145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5BC0BE"/>
                </a:solidFill>
                <a:latin typeface="Poppins"/>
              </a:rPr>
              <a:t>Próximos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491954"/>
            <a:ext cx="110490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D1D5DB"/>
                </a:solidFill>
                <a:latin typeface="Lato"/>
              </a:rPr>
              <a:t>Diseño de estrategia de ramificación (GitFlow) y configuración de Tablero Kanban.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238625"/>
            <a:ext cx="110490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1" i="0" u="none">
                <a:solidFill>
                  <a:srgbClr val="5BC0BE"/>
                </a:solidFill>
                <a:latin typeface="Lato"/>
              </a:rPr>
              <a:t>¡Muchas Gracias!</a:t>
            </a:r>
          </a:p>
        </p:txBody>
      </p:sp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C2EB1AE5-6A02-ACA3-3AD8-7BB964ECF86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530"/>
    </mc:Choice>
    <mc:Fallback xmlns="">
      <p:transition spd="slow" advTm="155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455</Words>
  <Application>Microsoft Office PowerPoint</Application>
  <PresentationFormat>Panorámica</PresentationFormat>
  <Paragraphs>57</Paragraphs>
  <Slides>9</Slides>
  <Notes>9</Notes>
  <HiddenSlides>0</HiddenSlides>
  <MMClips>9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Aptos</vt:lpstr>
      <vt:lpstr>Arial</vt:lpstr>
      <vt:lpstr>Calibri</vt:lpstr>
      <vt:lpstr>Lato</vt:lpstr>
      <vt:lpstr>Poppins</vt:lpstr>
      <vt:lpstr>Poppins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ALUMNO - JOSE LUIS MANAYAY AYACHI</cp:lastModifiedBy>
  <cp:revision>5</cp:revision>
  <dcterms:created xsi:type="dcterms:W3CDTF">2013-01-27T09:14:16Z</dcterms:created>
  <dcterms:modified xsi:type="dcterms:W3CDTF">2026-09-15T04:42:59Z</dcterms:modified>
  <cp:category/>
</cp:coreProperties>
</file>